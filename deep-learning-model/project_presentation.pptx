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 id="2147483672" r:id="rId2"/>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4A6361-2A0A-4EB9-8CC3-3D3D81B405F7}">
  <a:tblStyle styleId="{F94A6361-2A0A-4EB9-8CC3-3D3D81B405F7}"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9F3"/>
          </a:solidFill>
        </a:fill>
      </a:tcStyle>
    </a:wholeTbl>
    <a:band1H>
      <a:tcTxStyle/>
      <a:tcStyle>
        <a:tcBdr/>
        <a:fill>
          <a:solidFill>
            <a:srgbClr val="CAD0E7"/>
          </a:solidFill>
        </a:fill>
      </a:tcStyle>
    </a:band1H>
    <a:band2H>
      <a:tcTxStyle/>
      <a:tcStyle>
        <a:tcBdr/>
      </a:tcStyle>
    </a:band2H>
    <a:band1V>
      <a:tcTxStyle/>
      <a:tcStyle>
        <a:tcBdr/>
        <a:fill>
          <a:solidFill>
            <a:srgbClr val="CAD0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66" autoAdjust="0"/>
    <p:restoredTop sz="94660"/>
  </p:normalViewPr>
  <p:slideViewPr>
    <p:cSldViewPr snapToGrid="0">
      <p:cViewPr varScale="1">
        <p:scale>
          <a:sx n="119" d="100"/>
          <a:sy n="119" d="100"/>
        </p:scale>
        <p:origin x="261" y="5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433794aee5_2_5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g3433794aee5_2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433794aee5_2_6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g3433794aee5_2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433794aee5_2_7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g3433794aee5_2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45fb0bb046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45fb0bb046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45fb0bb046_1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45fb0bb046_1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433794aee5_2_8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g3433794aee5_2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433794aee5_2_9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g3433794aee5_2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433794aee5_2_10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433794aee5_2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433794aee5_2_10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3433794aee5_2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433794aee5_2_12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g3433794aee5_2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45fb0bb046_1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45fb0bb046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433794aee5_2_14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g3433794aee5_2_1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433794aee5_2_14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433794aee5_2_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433794aee5_2_15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3433794aee5_2_1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14"/>
          <p:cNvSpPr txBox="1">
            <a:spLocks noGrp="1"/>
          </p:cNvSpPr>
          <p:nvPr>
            <p:ph type="body" idx="1"/>
          </p:nvPr>
        </p:nvSpPr>
        <p:spPr>
          <a:xfrm>
            <a:off x="493776" y="2976372"/>
            <a:ext cx="4978908" cy="1237786"/>
          </a:xfrm>
          <a:prstGeom prst="rect">
            <a:avLst/>
          </a:prstGeom>
          <a:noFill/>
          <a:ln>
            <a:noFill/>
          </a:ln>
        </p:spPr>
        <p:txBody>
          <a:bodyPr spcFirstLastPara="1" wrap="square" lIns="0" tIns="34275" rIns="68575" bIns="34275" anchor="t" anchorCtr="0">
            <a:noAutofit/>
          </a:bodyPr>
          <a:lstStyle>
            <a:lvl1pPr marL="457200" lvl="0" indent="-228600" algn="l">
              <a:lnSpc>
                <a:spcPct val="130000"/>
              </a:lnSpc>
              <a:spcBef>
                <a:spcPts val="500"/>
              </a:spcBef>
              <a:spcAft>
                <a:spcPts val="0"/>
              </a:spcAft>
              <a:buSzPts val="2500"/>
              <a:buNone/>
              <a:defRPr sz="2100" b="0" i="0">
                <a:solidFill>
                  <a:schemeClr val="lt1"/>
                </a:solidFill>
                <a:latin typeface="Georgia"/>
                <a:ea typeface="Georgia"/>
                <a:cs typeface="Georgia"/>
                <a:sym typeface="Georgia"/>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7" name="Google Shape;57;p14"/>
          <p:cNvSpPr txBox="1">
            <a:spLocks noGrp="1"/>
          </p:cNvSpPr>
          <p:nvPr>
            <p:ph type="ctrTitle"/>
          </p:nvPr>
        </p:nvSpPr>
        <p:spPr>
          <a:xfrm>
            <a:off x="493776" y="1117854"/>
            <a:ext cx="4978908" cy="1789938"/>
          </a:xfrm>
          <a:prstGeom prst="rect">
            <a:avLst/>
          </a:prstGeom>
          <a:noFill/>
          <a:ln>
            <a:noFill/>
          </a:ln>
        </p:spPr>
        <p:txBody>
          <a:bodyPr spcFirstLastPara="1" wrap="square" lIns="0" tIns="34275" rIns="68575" bIns="34275" anchor="b" anchorCtr="0">
            <a:noAutofit/>
          </a:bodyPr>
          <a:lstStyle>
            <a:lvl1pPr lvl="0" algn="l">
              <a:lnSpc>
                <a:spcPct val="96666"/>
              </a:lnSpc>
              <a:spcBef>
                <a:spcPts val="0"/>
              </a:spcBef>
              <a:spcAft>
                <a:spcPts val="0"/>
              </a:spcAft>
              <a:buClr>
                <a:schemeClr val="lt1"/>
              </a:buClr>
              <a:buSzPts val="4500"/>
              <a:buFont typeface="Arial"/>
              <a:buNone/>
              <a:defRPr sz="4500" b="1" i="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58" name="Google Shape;58;p14" descr="University at Buffalo, The State University of New York logo"/>
          <p:cNvPicPr preferRelativeResize="0"/>
          <p:nvPr/>
        </p:nvPicPr>
        <p:blipFill rotWithShape="1">
          <a:blip r:embed="rId3">
            <a:alphaModFix/>
          </a:blip>
          <a:srcRect/>
          <a:stretch/>
        </p:blipFill>
        <p:spPr>
          <a:xfrm>
            <a:off x="495300" y="4530920"/>
            <a:ext cx="3600450" cy="26702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25196" y="1124712"/>
            <a:ext cx="5213604" cy="443198"/>
          </a:xfrm>
          <a:prstGeom prst="rect">
            <a:avLst/>
          </a:prstGeom>
          <a:noFill/>
          <a:ln>
            <a:noFill/>
          </a:ln>
        </p:spPr>
        <p:txBody>
          <a:bodyPr spcFirstLastPara="1" wrap="square" lIns="68575" tIns="34275" rIns="68575" bIns="34275" anchor="b" anchorCtr="0">
            <a:sp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1" name="Google Shape;61;p15"/>
          <p:cNvSpPr txBox="1">
            <a:spLocks noGrp="1"/>
          </p:cNvSpPr>
          <p:nvPr>
            <p:ph type="body" idx="1"/>
          </p:nvPr>
        </p:nvSpPr>
        <p:spPr>
          <a:xfrm>
            <a:off x="425196" y="1639062"/>
            <a:ext cx="5213604" cy="2976187"/>
          </a:xfrm>
          <a:prstGeom prst="rect">
            <a:avLst/>
          </a:prstGeom>
          <a:noFill/>
          <a:ln>
            <a:noFill/>
          </a:ln>
        </p:spPr>
        <p:txBody>
          <a:bodyPr spcFirstLastPara="1" wrap="square" lIns="68575" tIns="34275" rIns="68575" bIns="34275" anchor="t" anchorCtr="0">
            <a:noAutofit/>
          </a:bodyPr>
          <a:lstStyle>
            <a:lvl1pPr marL="457200" lvl="0" indent="-330200" algn="l">
              <a:lnSpc>
                <a:spcPct val="130000"/>
              </a:lnSpc>
              <a:spcBef>
                <a:spcPts val="500"/>
              </a:spcBef>
              <a:spcAft>
                <a:spcPts val="0"/>
              </a:spcAft>
              <a:buSzPts val="1600"/>
              <a:buChar char="•"/>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2" name="Google Shape;62;p15"/>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ulleted List">
  <p:cSld name="Bulleted List">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425196" y="1124712"/>
            <a:ext cx="5213604" cy="443198"/>
          </a:xfrm>
          <a:prstGeom prst="rect">
            <a:avLst/>
          </a:prstGeom>
          <a:noFill/>
          <a:ln>
            <a:noFill/>
          </a:ln>
        </p:spPr>
        <p:txBody>
          <a:bodyPr spcFirstLastPara="1" wrap="square" lIns="68575" tIns="34275" rIns="68575" bIns="34275" anchor="b" anchorCtr="0">
            <a:sp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5" name="Google Shape;65;p16"/>
          <p:cNvSpPr txBox="1">
            <a:spLocks noGrp="1"/>
          </p:cNvSpPr>
          <p:nvPr>
            <p:ph type="body" idx="1"/>
          </p:nvPr>
        </p:nvSpPr>
        <p:spPr>
          <a:xfrm>
            <a:off x="425196" y="1639062"/>
            <a:ext cx="5213604" cy="2976187"/>
          </a:xfrm>
          <a:prstGeom prst="rect">
            <a:avLst/>
          </a:prstGeom>
          <a:noFill/>
          <a:ln>
            <a:noFill/>
          </a:ln>
        </p:spPr>
        <p:txBody>
          <a:bodyPr spcFirstLastPara="1" wrap="square" lIns="68575" tIns="34275" rIns="68575" bIns="34275" anchor="t" anchorCtr="0">
            <a:noAutofit/>
          </a:bodyPr>
          <a:lstStyle>
            <a:lvl1pPr marL="457200" lvl="0" indent="-330200" algn="l">
              <a:lnSpc>
                <a:spcPct val="130000"/>
              </a:lnSpc>
              <a:spcBef>
                <a:spcPts val="500"/>
              </a:spcBef>
              <a:spcAft>
                <a:spcPts val="0"/>
              </a:spcAft>
              <a:buSzPts val="1600"/>
              <a:buChar char="•"/>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6" name="Google Shape;66;p16"/>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and Graph">
  <p:cSld name="Content and Graph">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425196" y="1124712"/>
            <a:ext cx="3186684" cy="443198"/>
          </a:xfrm>
          <a:prstGeom prst="rect">
            <a:avLst/>
          </a:prstGeom>
          <a:noFill/>
          <a:ln>
            <a:noFill/>
          </a:ln>
        </p:spPr>
        <p:txBody>
          <a:bodyPr spcFirstLastPara="1" wrap="square" lIns="68575" tIns="34275" rIns="68575" bIns="34275" anchor="b" anchorCtr="0">
            <a:sp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9" name="Google Shape;69;p17"/>
          <p:cNvSpPr txBox="1">
            <a:spLocks noGrp="1"/>
          </p:cNvSpPr>
          <p:nvPr>
            <p:ph type="body" idx="1"/>
          </p:nvPr>
        </p:nvSpPr>
        <p:spPr>
          <a:xfrm>
            <a:off x="425196" y="1639062"/>
            <a:ext cx="3186684" cy="2976187"/>
          </a:xfrm>
          <a:prstGeom prst="rect">
            <a:avLst/>
          </a:prstGeom>
          <a:noFill/>
          <a:ln>
            <a:noFill/>
          </a:ln>
        </p:spPr>
        <p:txBody>
          <a:bodyPr spcFirstLastPara="1" wrap="square" lIns="68575" tIns="34275" rIns="68575" bIns="34275" anchor="t" anchorCtr="0">
            <a:noAutofit/>
          </a:bodyPr>
          <a:lstStyle>
            <a:lvl1pPr marL="457200" lvl="0" indent="-330200" algn="l">
              <a:lnSpc>
                <a:spcPct val="130000"/>
              </a:lnSpc>
              <a:spcBef>
                <a:spcPts val="500"/>
              </a:spcBef>
              <a:spcAft>
                <a:spcPts val="0"/>
              </a:spcAft>
              <a:buSzPts val="1600"/>
              <a:buChar char="•"/>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0" name="Google Shape;70;p17"/>
          <p:cNvSpPr>
            <a:spLocks noGrp="1"/>
          </p:cNvSpPr>
          <p:nvPr>
            <p:ph type="chart" idx="2"/>
          </p:nvPr>
        </p:nvSpPr>
        <p:spPr>
          <a:xfrm>
            <a:off x="3871451" y="1482214"/>
            <a:ext cx="4743864" cy="2975487"/>
          </a:xfrm>
          <a:prstGeom prst="rect">
            <a:avLst/>
          </a:prstGeom>
          <a:solidFill>
            <a:srgbClr val="BFBFBF"/>
          </a:solidFill>
          <a:ln>
            <a:noFill/>
          </a:ln>
        </p:spPr>
        <p:txBody>
          <a:bodyPr spcFirstLastPara="1" wrap="square" lIns="68575" tIns="34275" rIns="68575" bIns="34275" anchor="t" anchorCtr="0">
            <a:noAutofit/>
          </a:bodyPr>
          <a:lstStyle>
            <a:lvl1pPr marR="0" lvl="0" algn="ctr" rtl="0">
              <a:lnSpc>
                <a:spcPct val="90000"/>
              </a:lnSpc>
              <a:spcBef>
                <a:spcPts val="8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R="0" lvl="1" algn="l" rtl="0">
              <a:lnSpc>
                <a:spcPct val="130000"/>
              </a:lnSpc>
              <a:spcBef>
                <a:spcPts val="500"/>
              </a:spcBef>
              <a:spcAft>
                <a:spcPts val="0"/>
              </a:spcAft>
              <a:buClr>
                <a:schemeClr val="dk2"/>
              </a:buClr>
              <a:buSzPts val="1600"/>
              <a:buFont typeface="NTR"/>
              <a:buChar char="-"/>
              <a:defRPr sz="1400" b="0" i="0" u="none" strike="noStrike" cap="none">
                <a:solidFill>
                  <a:schemeClr val="dk1"/>
                </a:solidFill>
                <a:latin typeface="Arial"/>
                <a:ea typeface="Arial"/>
                <a:cs typeface="Arial"/>
                <a:sym typeface="Arial"/>
              </a:defRPr>
            </a:lvl2pPr>
            <a:lvl3pPr marR="0" lvl="2" algn="l" rtl="0">
              <a:lnSpc>
                <a:spcPct val="130000"/>
              </a:lnSpc>
              <a:spcBef>
                <a:spcPts val="500"/>
              </a:spcBef>
              <a:spcAft>
                <a:spcPts val="0"/>
              </a:spcAft>
              <a:buClr>
                <a:schemeClr val="dk2"/>
              </a:buClr>
              <a:buSzPts val="1600"/>
              <a:buFont typeface="NTR"/>
              <a:buChar char="-"/>
              <a:defRPr sz="1400" b="0" i="0" u="none" strike="noStrike" cap="none">
                <a:solidFill>
                  <a:schemeClr val="dk1"/>
                </a:solidFill>
                <a:latin typeface="Arial"/>
                <a:ea typeface="Arial"/>
                <a:cs typeface="Arial"/>
                <a:sym typeface="Arial"/>
              </a:defRPr>
            </a:lvl3pPr>
            <a:lvl4pPr marR="0" lvl="3" algn="l" rtl="0">
              <a:lnSpc>
                <a:spcPct val="130000"/>
              </a:lnSpc>
              <a:spcBef>
                <a:spcPts val="500"/>
              </a:spcBef>
              <a:spcAft>
                <a:spcPts val="0"/>
              </a:spcAft>
              <a:buClr>
                <a:schemeClr val="dk2"/>
              </a:buClr>
              <a:buSzPts val="1600"/>
              <a:buFont typeface="NTR"/>
              <a:buChar char="-"/>
              <a:defRPr sz="1400" b="0" i="0" u="none" strike="noStrike" cap="none">
                <a:solidFill>
                  <a:schemeClr val="dk1"/>
                </a:solidFill>
                <a:latin typeface="Arial"/>
                <a:ea typeface="Arial"/>
                <a:cs typeface="Arial"/>
                <a:sym typeface="Arial"/>
              </a:defRPr>
            </a:lvl4pPr>
            <a:lvl5pPr marR="0" lvl="4" algn="l" rtl="0">
              <a:lnSpc>
                <a:spcPct val="130000"/>
              </a:lnSpc>
              <a:spcBef>
                <a:spcPts val="500"/>
              </a:spcBef>
              <a:spcAft>
                <a:spcPts val="0"/>
              </a:spcAft>
              <a:buClr>
                <a:schemeClr val="dk2"/>
              </a:buClr>
              <a:buSzPts val="1600"/>
              <a:buFont typeface="NTR"/>
              <a:buChar char="-"/>
              <a:defRPr sz="1400" b="0" i="0" u="none" strike="noStrike" cap="none">
                <a:solidFill>
                  <a:schemeClr val="dk1"/>
                </a:solidFill>
                <a:latin typeface="Arial"/>
                <a:ea typeface="Arial"/>
                <a:cs typeface="Arial"/>
                <a:sym typeface="Arial"/>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1" name="Google Shape;71;p17"/>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Slide">
  <p:cSld name="Divider Slide">
    <p:bg>
      <p:bgPr>
        <a:blipFill>
          <a:blip r:embed="rId2">
            <a:alphaModFix/>
          </a:blip>
          <a:stretch>
            <a:fillRect/>
          </a:stretch>
        </a:blipFill>
        <a:effectLst/>
      </p:bgPr>
    </p:bg>
    <p:spTree>
      <p:nvGrpSpPr>
        <p:cNvPr id="1" name="Shape 72"/>
        <p:cNvGrpSpPr/>
        <p:nvPr/>
      </p:nvGrpSpPr>
      <p:grpSpPr>
        <a:xfrm>
          <a:off x="0" y="0"/>
          <a:ext cx="0" cy="0"/>
          <a:chOff x="0" y="0"/>
          <a:chExt cx="0" cy="0"/>
        </a:xfrm>
      </p:grpSpPr>
      <p:sp>
        <p:nvSpPr>
          <p:cNvPr id="73" name="Google Shape;73;p18"/>
          <p:cNvSpPr txBox="1">
            <a:spLocks noGrp="1"/>
          </p:cNvSpPr>
          <p:nvPr>
            <p:ph type="ctrTitle"/>
          </p:nvPr>
        </p:nvSpPr>
        <p:spPr>
          <a:xfrm>
            <a:off x="493776" y="1117997"/>
            <a:ext cx="4978908" cy="1790700"/>
          </a:xfrm>
          <a:prstGeom prst="rect">
            <a:avLst/>
          </a:prstGeom>
          <a:noFill/>
          <a:ln>
            <a:noFill/>
          </a:ln>
        </p:spPr>
        <p:txBody>
          <a:bodyPr spcFirstLastPara="1" wrap="square" lIns="0" tIns="34275" rIns="68575" bIns="34275" anchor="b" anchorCtr="0">
            <a:noAutofit/>
          </a:bodyPr>
          <a:lstStyle>
            <a:lvl1pPr lvl="0" algn="l">
              <a:lnSpc>
                <a:spcPct val="96666"/>
              </a:lnSpc>
              <a:spcBef>
                <a:spcPts val="0"/>
              </a:spcBef>
              <a:spcAft>
                <a:spcPts val="0"/>
              </a:spcAft>
              <a:buClr>
                <a:schemeClr val="lt1"/>
              </a:buClr>
              <a:buSzPts val="4500"/>
              <a:buFont typeface="Arial"/>
              <a:buNone/>
              <a:defRPr sz="4500" b="1" i="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4" name="Google Shape;74;p18"/>
          <p:cNvSpPr txBox="1">
            <a:spLocks noGrp="1"/>
          </p:cNvSpPr>
          <p:nvPr>
            <p:ph type="subTitle" idx="1"/>
          </p:nvPr>
        </p:nvSpPr>
        <p:spPr>
          <a:xfrm>
            <a:off x="493776" y="2977753"/>
            <a:ext cx="4978908" cy="1659732"/>
          </a:xfrm>
          <a:prstGeom prst="rect">
            <a:avLst/>
          </a:prstGeom>
          <a:noFill/>
          <a:ln>
            <a:noFill/>
          </a:ln>
        </p:spPr>
        <p:txBody>
          <a:bodyPr spcFirstLastPara="1" wrap="square" lIns="0" tIns="34275" rIns="68575" bIns="34275" anchor="t" anchorCtr="0">
            <a:noAutofit/>
          </a:bodyPr>
          <a:lstStyle>
            <a:lvl1pPr lvl="0" algn="l">
              <a:lnSpc>
                <a:spcPct val="130000"/>
              </a:lnSpc>
              <a:spcBef>
                <a:spcPts val="500"/>
              </a:spcBef>
              <a:spcAft>
                <a:spcPts val="0"/>
              </a:spcAft>
              <a:buSzPts val="2500"/>
              <a:buNone/>
              <a:defRPr sz="2100" b="0">
                <a:solidFill>
                  <a:schemeClr val="lt1"/>
                </a:solidFill>
                <a:latin typeface="Georgia"/>
                <a:ea typeface="Georgia"/>
                <a:cs typeface="Georgia"/>
                <a:sym typeface="Georgia"/>
              </a:defRPr>
            </a:lvl1pPr>
            <a:lvl2pPr lvl="1" algn="ctr">
              <a:lnSpc>
                <a:spcPct val="130000"/>
              </a:lnSpc>
              <a:spcBef>
                <a:spcPts val="500"/>
              </a:spcBef>
              <a:spcAft>
                <a:spcPts val="0"/>
              </a:spcAft>
              <a:buSzPts val="1800"/>
              <a:buNone/>
              <a:defRPr sz="1500"/>
            </a:lvl2pPr>
            <a:lvl3pPr lvl="2" algn="ctr">
              <a:lnSpc>
                <a:spcPct val="130000"/>
              </a:lnSpc>
              <a:spcBef>
                <a:spcPts val="500"/>
              </a:spcBef>
              <a:spcAft>
                <a:spcPts val="0"/>
              </a:spcAft>
              <a:buSzPts val="1600"/>
              <a:buNone/>
              <a:defRPr sz="1400"/>
            </a:lvl3pPr>
            <a:lvl4pPr lvl="3" algn="ctr">
              <a:lnSpc>
                <a:spcPct val="130000"/>
              </a:lnSpc>
              <a:spcBef>
                <a:spcPts val="500"/>
              </a:spcBef>
              <a:spcAft>
                <a:spcPts val="0"/>
              </a:spcAft>
              <a:buSzPts val="1400"/>
              <a:buNone/>
              <a:defRPr sz="1200"/>
            </a:lvl4pPr>
            <a:lvl5pPr lvl="4" algn="ctr">
              <a:lnSpc>
                <a:spcPct val="130000"/>
              </a:lnSpc>
              <a:spcBef>
                <a:spcPts val="500"/>
              </a:spcBef>
              <a:spcAft>
                <a:spcPts val="0"/>
              </a:spcAft>
              <a:buSzPts val="14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75" name="Google Shape;75;p18" descr="University at Buffalo, The State University of New York logo"/>
          <p:cNvPicPr preferRelativeResize="0"/>
          <p:nvPr/>
        </p:nvPicPr>
        <p:blipFill rotWithShape="1">
          <a:blip r:embed="rId3">
            <a:alphaModFix/>
          </a:blip>
          <a:srcRect/>
          <a:stretch/>
        </p:blipFill>
        <p:spPr>
          <a:xfrm>
            <a:off x="266700" y="240860"/>
            <a:ext cx="3600450" cy="26702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425196" y="1124712"/>
            <a:ext cx="7886700" cy="443198"/>
          </a:xfrm>
          <a:prstGeom prst="rect">
            <a:avLst/>
          </a:prstGeom>
          <a:noFill/>
          <a:ln>
            <a:noFill/>
          </a:ln>
        </p:spPr>
        <p:txBody>
          <a:bodyPr spcFirstLastPara="1" wrap="square" lIns="68575" tIns="34275" rIns="68575" bIns="34275" anchor="b" anchorCtr="0">
            <a:sp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8" name="Google Shape;78;p19"/>
          <p:cNvSpPr txBox="1">
            <a:spLocks noGrp="1"/>
          </p:cNvSpPr>
          <p:nvPr>
            <p:ph type="body" idx="1"/>
          </p:nvPr>
        </p:nvSpPr>
        <p:spPr>
          <a:xfrm>
            <a:off x="425196" y="1639062"/>
            <a:ext cx="3854196" cy="294894"/>
          </a:xfrm>
          <a:prstGeom prst="rect">
            <a:avLst/>
          </a:prstGeom>
          <a:noFill/>
          <a:ln>
            <a:noFill/>
          </a:ln>
        </p:spPr>
        <p:txBody>
          <a:bodyPr spcFirstLastPara="1" wrap="square" lIns="68575" tIns="34275" rIns="68575" bIns="34275" anchor="t" anchorCtr="0">
            <a:spAutoFit/>
          </a:bodyPr>
          <a:lstStyle>
            <a:lvl1pPr marL="457200" lvl="0" indent="-228600" algn="l">
              <a:lnSpc>
                <a:spcPct val="130000"/>
              </a:lnSpc>
              <a:spcBef>
                <a:spcPts val="500"/>
              </a:spcBef>
              <a:spcAft>
                <a:spcPts val="0"/>
              </a:spcAft>
              <a:buSzPts val="1400"/>
              <a:buNone/>
              <a:defRPr sz="1200" b="1" cap="none">
                <a:solidFill>
                  <a:schemeClr val="dk2"/>
                </a:solidFill>
              </a:defRPr>
            </a:lvl1pPr>
            <a:lvl2pPr marL="914400" lvl="1" indent="-228600" algn="l">
              <a:lnSpc>
                <a:spcPct val="130000"/>
              </a:lnSpc>
              <a:spcBef>
                <a:spcPts val="500"/>
              </a:spcBef>
              <a:spcAft>
                <a:spcPts val="0"/>
              </a:spcAft>
              <a:buSzPts val="1800"/>
              <a:buNone/>
              <a:defRPr sz="1500" b="1"/>
            </a:lvl2pPr>
            <a:lvl3pPr marL="1371600" lvl="2" indent="-228600" algn="l">
              <a:lnSpc>
                <a:spcPct val="130000"/>
              </a:lnSpc>
              <a:spcBef>
                <a:spcPts val="500"/>
              </a:spcBef>
              <a:spcAft>
                <a:spcPts val="0"/>
              </a:spcAft>
              <a:buSzPts val="1600"/>
              <a:buNone/>
              <a:defRPr sz="1400" b="1"/>
            </a:lvl3pPr>
            <a:lvl4pPr marL="1828800" lvl="3" indent="-228600" algn="l">
              <a:lnSpc>
                <a:spcPct val="130000"/>
              </a:lnSpc>
              <a:spcBef>
                <a:spcPts val="500"/>
              </a:spcBef>
              <a:spcAft>
                <a:spcPts val="0"/>
              </a:spcAft>
              <a:buSzPts val="1400"/>
              <a:buNone/>
              <a:defRPr sz="1200" b="1"/>
            </a:lvl4pPr>
            <a:lvl5pPr marL="2286000" lvl="4" indent="-228600" algn="l">
              <a:lnSpc>
                <a:spcPct val="130000"/>
              </a:lnSpc>
              <a:spcBef>
                <a:spcPts val="500"/>
              </a:spcBef>
              <a:spcAft>
                <a:spcPts val="0"/>
              </a:spcAft>
              <a:buSzPts val="14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79" name="Google Shape;79;p19"/>
          <p:cNvSpPr txBox="1">
            <a:spLocks noGrp="1"/>
          </p:cNvSpPr>
          <p:nvPr>
            <p:ph type="body" idx="2"/>
          </p:nvPr>
        </p:nvSpPr>
        <p:spPr>
          <a:xfrm>
            <a:off x="425196" y="1945005"/>
            <a:ext cx="3855386" cy="2651808"/>
          </a:xfrm>
          <a:prstGeom prst="rect">
            <a:avLst/>
          </a:prstGeom>
          <a:noFill/>
          <a:ln>
            <a:noFill/>
          </a:ln>
        </p:spPr>
        <p:txBody>
          <a:bodyPr spcFirstLastPara="1" wrap="square" lIns="68575" tIns="34275" rIns="68575" bIns="34275" anchor="t" anchorCtr="0">
            <a:noAutofit/>
          </a:bodyPr>
          <a:lstStyle>
            <a:lvl1pPr marL="457200" lvl="0" indent="-330200" algn="l">
              <a:lnSpc>
                <a:spcPct val="130000"/>
              </a:lnSpc>
              <a:spcBef>
                <a:spcPts val="500"/>
              </a:spcBef>
              <a:spcAft>
                <a:spcPts val="0"/>
              </a:spcAft>
              <a:buClr>
                <a:schemeClr val="dk2"/>
              </a:buClr>
              <a:buSzPts val="1600"/>
              <a:buFont typeface="Arial"/>
              <a:buChar char="•"/>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0" name="Google Shape;80;p19"/>
          <p:cNvSpPr txBox="1">
            <a:spLocks noGrp="1"/>
          </p:cNvSpPr>
          <p:nvPr>
            <p:ph type="body" idx="3"/>
          </p:nvPr>
        </p:nvSpPr>
        <p:spPr>
          <a:xfrm>
            <a:off x="4629150" y="1639062"/>
            <a:ext cx="3854196" cy="296235"/>
          </a:xfrm>
          <a:prstGeom prst="rect">
            <a:avLst/>
          </a:prstGeom>
          <a:noFill/>
          <a:ln>
            <a:noFill/>
          </a:ln>
        </p:spPr>
        <p:txBody>
          <a:bodyPr spcFirstLastPara="1" wrap="square" lIns="68575" tIns="34275" rIns="68575" bIns="34275" anchor="t" anchorCtr="0">
            <a:spAutoFit/>
          </a:bodyPr>
          <a:lstStyle>
            <a:lvl1pPr marL="457200" lvl="0" indent="-228600" algn="l">
              <a:lnSpc>
                <a:spcPct val="130000"/>
              </a:lnSpc>
              <a:spcBef>
                <a:spcPts val="500"/>
              </a:spcBef>
              <a:spcAft>
                <a:spcPts val="0"/>
              </a:spcAft>
              <a:buSzPts val="1400"/>
              <a:buNone/>
              <a:defRPr sz="1200" b="1" cap="none">
                <a:solidFill>
                  <a:schemeClr val="dk2"/>
                </a:solidFill>
              </a:defRPr>
            </a:lvl1pPr>
            <a:lvl2pPr marL="914400" lvl="1" indent="-228600" algn="l">
              <a:lnSpc>
                <a:spcPct val="130000"/>
              </a:lnSpc>
              <a:spcBef>
                <a:spcPts val="500"/>
              </a:spcBef>
              <a:spcAft>
                <a:spcPts val="0"/>
              </a:spcAft>
              <a:buSzPts val="1800"/>
              <a:buNone/>
              <a:defRPr sz="1500" b="1"/>
            </a:lvl2pPr>
            <a:lvl3pPr marL="1371600" lvl="2" indent="-228600" algn="l">
              <a:lnSpc>
                <a:spcPct val="130000"/>
              </a:lnSpc>
              <a:spcBef>
                <a:spcPts val="500"/>
              </a:spcBef>
              <a:spcAft>
                <a:spcPts val="0"/>
              </a:spcAft>
              <a:buSzPts val="1600"/>
              <a:buNone/>
              <a:defRPr sz="1400" b="1"/>
            </a:lvl3pPr>
            <a:lvl4pPr marL="1828800" lvl="3" indent="-228600" algn="l">
              <a:lnSpc>
                <a:spcPct val="130000"/>
              </a:lnSpc>
              <a:spcBef>
                <a:spcPts val="500"/>
              </a:spcBef>
              <a:spcAft>
                <a:spcPts val="0"/>
              </a:spcAft>
              <a:buSzPts val="1400"/>
              <a:buNone/>
              <a:defRPr sz="1200" b="1"/>
            </a:lvl4pPr>
            <a:lvl5pPr marL="2286000" lvl="4" indent="-228600" algn="l">
              <a:lnSpc>
                <a:spcPct val="130000"/>
              </a:lnSpc>
              <a:spcBef>
                <a:spcPts val="500"/>
              </a:spcBef>
              <a:spcAft>
                <a:spcPts val="0"/>
              </a:spcAft>
              <a:buSzPts val="14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1" name="Google Shape;81;p19"/>
          <p:cNvSpPr txBox="1">
            <a:spLocks noGrp="1"/>
          </p:cNvSpPr>
          <p:nvPr>
            <p:ph type="body" idx="4"/>
          </p:nvPr>
        </p:nvSpPr>
        <p:spPr>
          <a:xfrm>
            <a:off x="4629150" y="1943100"/>
            <a:ext cx="3854196" cy="2654046"/>
          </a:xfrm>
          <a:prstGeom prst="rect">
            <a:avLst/>
          </a:prstGeom>
          <a:noFill/>
          <a:ln>
            <a:noFill/>
          </a:ln>
        </p:spPr>
        <p:txBody>
          <a:bodyPr spcFirstLastPara="1" wrap="square" lIns="68575" tIns="34275" rIns="68575" bIns="34275" anchor="t" anchorCtr="0">
            <a:noAutofit/>
          </a:bodyPr>
          <a:lstStyle>
            <a:lvl1pPr marL="457200" lvl="0" indent="-330200" algn="l">
              <a:lnSpc>
                <a:spcPct val="130000"/>
              </a:lnSpc>
              <a:spcBef>
                <a:spcPts val="500"/>
              </a:spcBef>
              <a:spcAft>
                <a:spcPts val="0"/>
              </a:spcAft>
              <a:buClr>
                <a:schemeClr val="dk2"/>
              </a:buClr>
              <a:buSzPts val="1600"/>
              <a:buFont typeface="Arial"/>
              <a:buChar char="•"/>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2" name="Google Shape;82;p19"/>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and Three Photos">
  <p:cSld name="Content and Three Photos">
    <p:spTree>
      <p:nvGrpSpPr>
        <p:cNvPr id="1" name="Shape 83"/>
        <p:cNvGrpSpPr/>
        <p:nvPr/>
      </p:nvGrpSpPr>
      <p:grpSpPr>
        <a:xfrm>
          <a:off x="0" y="0"/>
          <a:ext cx="0" cy="0"/>
          <a:chOff x="0" y="0"/>
          <a:chExt cx="0" cy="0"/>
        </a:xfrm>
      </p:grpSpPr>
      <p:sp>
        <p:nvSpPr>
          <p:cNvPr id="84" name="Google Shape;84;p20"/>
          <p:cNvSpPr txBox="1">
            <a:spLocks noGrp="1"/>
          </p:cNvSpPr>
          <p:nvPr>
            <p:ph type="title"/>
          </p:nvPr>
        </p:nvSpPr>
        <p:spPr>
          <a:xfrm>
            <a:off x="425196" y="1124712"/>
            <a:ext cx="3186684" cy="443198"/>
          </a:xfrm>
          <a:prstGeom prst="rect">
            <a:avLst/>
          </a:prstGeom>
          <a:noFill/>
          <a:ln>
            <a:noFill/>
          </a:ln>
        </p:spPr>
        <p:txBody>
          <a:bodyPr spcFirstLastPara="1" wrap="square" lIns="68575" tIns="34275" rIns="68575" bIns="34275" anchor="b" anchorCtr="0">
            <a:sp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5" name="Google Shape;85;p20"/>
          <p:cNvSpPr txBox="1">
            <a:spLocks noGrp="1"/>
          </p:cNvSpPr>
          <p:nvPr>
            <p:ph type="body" idx="1"/>
          </p:nvPr>
        </p:nvSpPr>
        <p:spPr>
          <a:xfrm>
            <a:off x="425196" y="1639062"/>
            <a:ext cx="3186684" cy="2976187"/>
          </a:xfrm>
          <a:prstGeom prst="rect">
            <a:avLst/>
          </a:prstGeom>
          <a:noFill/>
          <a:ln>
            <a:noFill/>
          </a:ln>
        </p:spPr>
        <p:txBody>
          <a:bodyPr spcFirstLastPara="1" wrap="square" lIns="68575" tIns="34275" rIns="68575" bIns="34275" anchor="t" anchorCtr="0">
            <a:noAutofit/>
          </a:bodyPr>
          <a:lstStyle>
            <a:lvl1pPr marL="457200" lvl="0" indent="-330200" algn="l">
              <a:lnSpc>
                <a:spcPct val="130000"/>
              </a:lnSpc>
              <a:spcBef>
                <a:spcPts val="500"/>
              </a:spcBef>
              <a:spcAft>
                <a:spcPts val="0"/>
              </a:spcAft>
              <a:buSzPts val="1600"/>
              <a:buChar char="•"/>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6" name="Google Shape;86;p20"/>
          <p:cNvSpPr>
            <a:spLocks noGrp="1"/>
          </p:cNvSpPr>
          <p:nvPr>
            <p:ph type="pic" idx="2"/>
          </p:nvPr>
        </p:nvSpPr>
        <p:spPr>
          <a:xfrm>
            <a:off x="3835973" y="701040"/>
            <a:ext cx="5308027" cy="2298509"/>
          </a:xfrm>
          <a:prstGeom prst="rect">
            <a:avLst/>
          </a:prstGeom>
          <a:solidFill>
            <a:srgbClr val="BFBFBF"/>
          </a:solidFill>
          <a:ln w="9525" cap="flat" cmpd="sng">
            <a:solidFill>
              <a:schemeClr val="lt1"/>
            </a:solidFill>
            <a:prstDash val="solid"/>
            <a:round/>
            <a:headEnd type="none" w="sm" len="sm"/>
            <a:tailEnd type="none" w="sm" len="sm"/>
          </a:ln>
        </p:spPr>
      </p:sp>
      <p:sp>
        <p:nvSpPr>
          <p:cNvPr id="87" name="Google Shape;87;p20"/>
          <p:cNvSpPr>
            <a:spLocks noGrp="1"/>
          </p:cNvSpPr>
          <p:nvPr>
            <p:ph type="pic" idx="3"/>
          </p:nvPr>
        </p:nvSpPr>
        <p:spPr>
          <a:xfrm>
            <a:off x="3835973" y="2998722"/>
            <a:ext cx="2701892" cy="2143125"/>
          </a:xfrm>
          <a:prstGeom prst="rect">
            <a:avLst/>
          </a:prstGeom>
          <a:solidFill>
            <a:srgbClr val="BFBFBF"/>
          </a:solidFill>
          <a:ln w="9525" cap="flat" cmpd="sng">
            <a:solidFill>
              <a:schemeClr val="lt1"/>
            </a:solidFill>
            <a:prstDash val="solid"/>
            <a:round/>
            <a:headEnd type="none" w="sm" len="sm"/>
            <a:tailEnd type="none" w="sm" len="sm"/>
          </a:ln>
        </p:spPr>
      </p:sp>
      <p:sp>
        <p:nvSpPr>
          <p:cNvPr id="88" name="Google Shape;88;p20"/>
          <p:cNvSpPr>
            <a:spLocks noGrp="1"/>
          </p:cNvSpPr>
          <p:nvPr>
            <p:ph type="pic" idx="4"/>
          </p:nvPr>
        </p:nvSpPr>
        <p:spPr>
          <a:xfrm>
            <a:off x="6525817" y="2998722"/>
            <a:ext cx="2618184" cy="2143125"/>
          </a:xfrm>
          <a:prstGeom prst="rect">
            <a:avLst/>
          </a:prstGeom>
          <a:solidFill>
            <a:srgbClr val="BFBFBF"/>
          </a:solidFill>
          <a:ln w="9525" cap="flat" cmpd="sng">
            <a:solidFill>
              <a:schemeClr val="lt1"/>
            </a:solidFill>
            <a:prstDash val="solid"/>
            <a:round/>
            <a:headEnd type="none" w="sm" len="sm"/>
            <a:tailEnd type="none" w="sm" len="sm"/>
          </a:ln>
        </p:spPr>
      </p:sp>
      <p:sp>
        <p:nvSpPr>
          <p:cNvPr id="89" name="Google Shape;89;p20"/>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Double Content" type="twoObj">
  <p:cSld name="TWO_OBJECTS">
    <p:spTree>
      <p:nvGrpSpPr>
        <p:cNvPr id="1" name="Shape 90"/>
        <p:cNvGrpSpPr/>
        <p:nvPr/>
      </p:nvGrpSpPr>
      <p:grpSpPr>
        <a:xfrm>
          <a:off x="0" y="0"/>
          <a:ext cx="0" cy="0"/>
          <a:chOff x="0" y="0"/>
          <a:chExt cx="0" cy="0"/>
        </a:xfrm>
      </p:grpSpPr>
      <p:sp>
        <p:nvSpPr>
          <p:cNvPr id="91" name="Google Shape;91;p21"/>
          <p:cNvSpPr txBox="1">
            <a:spLocks noGrp="1"/>
          </p:cNvSpPr>
          <p:nvPr>
            <p:ph type="title"/>
          </p:nvPr>
        </p:nvSpPr>
        <p:spPr>
          <a:xfrm>
            <a:off x="425196" y="1124712"/>
            <a:ext cx="7886700" cy="443198"/>
          </a:xfrm>
          <a:prstGeom prst="rect">
            <a:avLst/>
          </a:prstGeom>
          <a:noFill/>
          <a:ln>
            <a:noFill/>
          </a:ln>
        </p:spPr>
        <p:txBody>
          <a:bodyPr spcFirstLastPara="1" wrap="square" lIns="68575" tIns="34275" rIns="68575" bIns="34275" anchor="b" anchorCtr="0">
            <a:sp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21"/>
          <p:cNvSpPr txBox="1">
            <a:spLocks noGrp="1"/>
          </p:cNvSpPr>
          <p:nvPr>
            <p:ph type="body" idx="1"/>
          </p:nvPr>
        </p:nvSpPr>
        <p:spPr>
          <a:xfrm>
            <a:off x="425196" y="1639062"/>
            <a:ext cx="3375279" cy="2961513"/>
          </a:xfrm>
          <a:prstGeom prst="rect">
            <a:avLst/>
          </a:prstGeom>
          <a:noFill/>
          <a:ln>
            <a:noFill/>
          </a:ln>
        </p:spPr>
        <p:txBody>
          <a:bodyPr spcFirstLastPara="1" wrap="square" lIns="68575" tIns="34275" rIns="68575" bIns="34275" anchor="t" anchorCtr="0">
            <a:noAutofit/>
          </a:bodyPr>
          <a:lstStyle>
            <a:lvl1pPr marL="457200" lvl="0" indent="-330200" algn="l">
              <a:lnSpc>
                <a:spcPct val="130000"/>
              </a:lnSpc>
              <a:spcBef>
                <a:spcPts val="500"/>
              </a:spcBef>
              <a:spcAft>
                <a:spcPts val="0"/>
              </a:spcAft>
              <a:buSzPts val="1600"/>
              <a:buChar char="•"/>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3" name="Google Shape;93;p21"/>
          <p:cNvSpPr txBox="1">
            <a:spLocks noGrp="1"/>
          </p:cNvSpPr>
          <p:nvPr>
            <p:ph type="body" idx="2"/>
          </p:nvPr>
        </p:nvSpPr>
        <p:spPr>
          <a:xfrm>
            <a:off x="4057650" y="1639062"/>
            <a:ext cx="3374136" cy="2962656"/>
          </a:xfrm>
          <a:prstGeom prst="rect">
            <a:avLst/>
          </a:prstGeom>
          <a:noFill/>
          <a:ln>
            <a:noFill/>
          </a:ln>
        </p:spPr>
        <p:txBody>
          <a:bodyPr spcFirstLastPara="1" wrap="square" lIns="68575" tIns="34275" rIns="68575" bIns="34275" anchor="t" anchorCtr="0">
            <a:noAutofit/>
          </a:bodyPr>
          <a:lstStyle>
            <a:lvl1pPr marL="457200" lvl="0" indent="-330200" algn="l">
              <a:lnSpc>
                <a:spcPct val="130000"/>
              </a:lnSpc>
              <a:spcBef>
                <a:spcPts val="500"/>
              </a:spcBef>
              <a:spcAft>
                <a:spcPts val="0"/>
              </a:spcAft>
              <a:buSzPts val="1600"/>
              <a:buChar char="•"/>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4" name="Google Shape;94;p21"/>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5"/>
        <p:cNvGrpSpPr/>
        <p:nvPr/>
      </p:nvGrpSpPr>
      <p:grpSpPr>
        <a:xfrm>
          <a:off x="0" y="0"/>
          <a:ext cx="0" cy="0"/>
          <a:chOff x="0" y="0"/>
          <a:chExt cx="0" cy="0"/>
        </a:xfrm>
      </p:grpSpPr>
      <p:sp>
        <p:nvSpPr>
          <p:cNvPr id="96" name="Google Shape;96;p22"/>
          <p:cNvSpPr txBox="1">
            <a:spLocks noGrp="1"/>
          </p:cNvSpPr>
          <p:nvPr>
            <p:ph type="title"/>
          </p:nvPr>
        </p:nvSpPr>
        <p:spPr>
          <a:xfrm>
            <a:off x="425196" y="1124712"/>
            <a:ext cx="7886700" cy="443198"/>
          </a:xfrm>
          <a:prstGeom prst="rect">
            <a:avLst/>
          </a:prstGeom>
          <a:noFill/>
          <a:ln>
            <a:noFill/>
          </a:ln>
        </p:spPr>
        <p:txBody>
          <a:bodyPr spcFirstLastPara="1" wrap="square" lIns="68575" tIns="34275" rIns="68575" bIns="34275" anchor="b" anchorCtr="0">
            <a:sp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7" name="Google Shape;97;p22"/>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98"/>
        <p:cNvGrpSpPr/>
        <p:nvPr/>
      </p:nvGrpSpPr>
      <p:grpSpPr>
        <a:xfrm>
          <a:off x="0" y="0"/>
          <a:ext cx="0" cy="0"/>
          <a:chOff x="0" y="0"/>
          <a:chExt cx="0" cy="0"/>
        </a:xfrm>
      </p:grpSpPr>
      <p:sp>
        <p:nvSpPr>
          <p:cNvPr id="99" name="Google Shape;99;p23"/>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and Photo">
  <p:cSld name="Content and Photo">
    <p:spTree>
      <p:nvGrpSpPr>
        <p:cNvPr id="1" name="Shape 100"/>
        <p:cNvGrpSpPr/>
        <p:nvPr/>
      </p:nvGrpSpPr>
      <p:grpSpPr>
        <a:xfrm>
          <a:off x="0" y="0"/>
          <a:ext cx="0" cy="0"/>
          <a:chOff x="0" y="0"/>
          <a:chExt cx="0" cy="0"/>
        </a:xfrm>
      </p:grpSpPr>
      <p:sp>
        <p:nvSpPr>
          <p:cNvPr id="101" name="Google Shape;101;p24"/>
          <p:cNvSpPr>
            <a:spLocks noGrp="1"/>
          </p:cNvSpPr>
          <p:nvPr>
            <p:ph type="pic" idx="2"/>
          </p:nvPr>
        </p:nvSpPr>
        <p:spPr>
          <a:xfrm>
            <a:off x="3823925" y="695325"/>
            <a:ext cx="5320076" cy="4448175"/>
          </a:xfrm>
          <a:prstGeom prst="rect">
            <a:avLst/>
          </a:prstGeom>
          <a:solidFill>
            <a:srgbClr val="BFBFBF"/>
          </a:solidFill>
          <a:ln>
            <a:noFill/>
          </a:ln>
        </p:spPr>
      </p:sp>
      <p:sp>
        <p:nvSpPr>
          <p:cNvPr id="102" name="Google Shape;102;p24"/>
          <p:cNvSpPr txBox="1">
            <a:spLocks noGrp="1"/>
          </p:cNvSpPr>
          <p:nvPr>
            <p:ph type="title"/>
          </p:nvPr>
        </p:nvSpPr>
        <p:spPr>
          <a:xfrm>
            <a:off x="425196" y="1124712"/>
            <a:ext cx="3186684" cy="443198"/>
          </a:xfrm>
          <a:prstGeom prst="rect">
            <a:avLst/>
          </a:prstGeom>
          <a:noFill/>
          <a:ln>
            <a:noFill/>
          </a:ln>
        </p:spPr>
        <p:txBody>
          <a:bodyPr spcFirstLastPara="1" wrap="square" lIns="68575" tIns="34275" rIns="68575" bIns="34275" anchor="b" anchorCtr="0">
            <a:sp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3" name="Google Shape;103;p24"/>
          <p:cNvSpPr txBox="1">
            <a:spLocks noGrp="1"/>
          </p:cNvSpPr>
          <p:nvPr>
            <p:ph type="body" idx="1"/>
          </p:nvPr>
        </p:nvSpPr>
        <p:spPr>
          <a:xfrm>
            <a:off x="425196" y="1639062"/>
            <a:ext cx="3186684" cy="2976187"/>
          </a:xfrm>
          <a:prstGeom prst="rect">
            <a:avLst/>
          </a:prstGeom>
          <a:noFill/>
          <a:ln>
            <a:noFill/>
          </a:ln>
        </p:spPr>
        <p:txBody>
          <a:bodyPr spcFirstLastPara="1" wrap="square" lIns="68575" tIns="34275" rIns="68575" bIns="34275" anchor="t" anchorCtr="0">
            <a:noAutofit/>
          </a:bodyPr>
          <a:lstStyle>
            <a:lvl1pPr marL="457200" lvl="0" indent="-330200" algn="l">
              <a:lnSpc>
                <a:spcPct val="130000"/>
              </a:lnSpc>
              <a:spcBef>
                <a:spcPts val="500"/>
              </a:spcBef>
              <a:spcAft>
                <a:spcPts val="0"/>
              </a:spcAft>
              <a:buSzPts val="1600"/>
              <a:buChar char="•"/>
              <a:defRPr/>
            </a:lvl1pPr>
            <a:lvl2pPr marL="914400" lvl="1" indent="-330200" algn="l">
              <a:lnSpc>
                <a:spcPct val="130000"/>
              </a:lnSpc>
              <a:spcBef>
                <a:spcPts val="500"/>
              </a:spcBef>
              <a:spcAft>
                <a:spcPts val="0"/>
              </a:spcAft>
              <a:buSzPts val="1600"/>
              <a:buChar char="-"/>
              <a:defRPr/>
            </a:lvl2pPr>
            <a:lvl3pPr marL="1371600" lvl="2" indent="-330200" algn="l">
              <a:lnSpc>
                <a:spcPct val="130000"/>
              </a:lnSpc>
              <a:spcBef>
                <a:spcPts val="500"/>
              </a:spcBef>
              <a:spcAft>
                <a:spcPts val="0"/>
              </a:spcAft>
              <a:buSzPts val="1600"/>
              <a:buChar char="-"/>
              <a:defRPr/>
            </a:lvl3pPr>
            <a:lvl4pPr marL="1828800" lvl="3" indent="-330200" algn="l">
              <a:lnSpc>
                <a:spcPct val="130000"/>
              </a:lnSpc>
              <a:spcBef>
                <a:spcPts val="500"/>
              </a:spcBef>
              <a:spcAft>
                <a:spcPts val="0"/>
              </a:spcAft>
              <a:buSzPts val="1600"/>
              <a:buChar char="-"/>
              <a:defRPr/>
            </a:lvl4pPr>
            <a:lvl5pPr marL="2286000" lvl="4" indent="-330200" algn="l">
              <a:lnSpc>
                <a:spcPct val="130000"/>
              </a:lnSpc>
              <a:spcBef>
                <a:spcPts val="500"/>
              </a:spcBef>
              <a:spcAft>
                <a:spcPts val="0"/>
              </a:spcAft>
              <a:buSzPts val="16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4" name="Google Shape;104;p24"/>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Full Width Photo">
  <p:cSld name="Full Width Photo">
    <p:spTree>
      <p:nvGrpSpPr>
        <p:cNvPr id="1" name="Shape 105"/>
        <p:cNvGrpSpPr/>
        <p:nvPr/>
      </p:nvGrpSpPr>
      <p:grpSpPr>
        <a:xfrm>
          <a:off x="0" y="0"/>
          <a:ext cx="0" cy="0"/>
          <a:chOff x="0" y="0"/>
          <a:chExt cx="0" cy="0"/>
        </a:xfrm>
      </p:grpSpPr>
      <p:sp>
        <p:nvSpPr>
          <p:cNvPr id="106" name="Google Shape;106;p25"/>
          <p:cNvSpPr txBox="1">
            <a:spLocks noGrp="1"/>
          </p:cNvSpPr>
          <p:nvPr>
            <p:ph type="title"/>
          </p:nvPr>
        </p:nvSpPr>
        <p:spPr>
          <a:xfrm>
            <a:off x="425196" y="1124712"/>
            <a:ext cx="7886700" cy="443198"/>
          </a:xfrm>
          <a:prstGeom prst="rect">
            <a:avLst/>
          </a:prstGeom>
          <a:noFill/>
          <a:ln>
            <a:noFill/>
          </a:ln>
        </p:spPr>
        <p:txBody>
          <a:bodyPr spcFirstLastPara="1" wrap="square" lIns="68575" tIns="34275" rIns="68575" bIns="34275" anchor="b" anchorCtr="0">
            <a:sp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7" name="Google Shape;107;p25"/>
          <p:cNvSpPr>
            <a:spLocks noGrp="1"/>
          </p:cNvSpPr>
          <p:nvPr>
            <p:ph type="pic" idx="2"/>
          </p:nvPr>
        </p:nvSpPr>
        <p:spPr>
          <a:xfrm>
            <a:off x="0" y="695325"/>
            <a:ext cx="9144000" cy="4448175"/>
          </a:xfrm>
          <a:prstGeom prst="rect">
            <a:avLst/>
          </a:prstGeom>
          <a:solidFill>
            <a:srgbClr val="BFBFBF"/>
          </a:solidFill>
          <a:ln>
            <a:noFill/>
          </a:ln>
        </p:spPr>
      </p:sp>
      <p:sp>
        <p:nvSpPr>
          <p:cNvPr id="108" name="Google Shape;108;p25"/>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25196" y="1124712"/>
            <a:ext cx="7886700" cy="443198"/>
          </a:xfrm>
          <a:prstGeom prst="rect">
            <a:avLst/>
          </a:prstGeom>
          <a:noFill/>
          <a:ln>
            <a:noFill/>
          </a:ln>
        </p:spPr>
        <p:txBody>
          <a:bodyPr spcFirstLastPara="1" wrap="square" lIns="68575" tIns="34275" rIns="68575" bIns="34275" anchor="b" anchorCtr="0">
            <a:spAutoFit/>
          </a:bodyPr>
          <a:lstStyle>
            <a:lvl1pPr marR="0" lvl="0" algn="l" rtl="0">
              <a:lnSpc>
                <a:spcPct val="90000"/>
              </a:lnSpc>
              <a:spcBef>
                <a:spcPts val="0"/>
              </a:spcBef>
              <a:spcAft>
                <a:spcPts val="0"/>
              </a:spcAft>
              <a:buClr>
                <a:schemeClr val="dk2"/>
              </a:buClr>
              <a:buSzPts val="2700"/>
              <a:buFont typeface="Georgia"/>
              <a:buNone/>
              <a:defRPr sz="2700" b="0" i="0" u="none" strike="noStrike" cap="none">
                <a:solidFill>
                  <a:schemeClr val="dk2"/>
                </a:solidFill>
                <a:latin typeface="Georgia"/>
                <a:ea typeface="Georgia"/>
                <a:cs typeface="Georgia"/>
                <a:sym typeface="Georg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425196" y="1639062"/>
            <a:ext cx="7886700" cy="2976187"/>
          </a:xfrm>
          <a:prstGeom prst="rect">
            <a:avLst/>
          </a:prstGeom>
          <a:noFill/>
          <a:ln>
            <a:noFill/>
          </a:ln>
        </p:spPr>
        <p:txBody>
          <a:bodyPr spcFirstLastPara="1" wrap="square" lIns="68575" tIns="34275" rIns="68575" bIns="34275" anchor="t" anchorCtr="0">
            <a:noAutofit/>
          </a:bodyPr>
          <a:lstStyle>
            <a:lvl1pPr marL="457200" marR="0" lvl="0" indent="-330200" algn="l" rtl="0">
              <a:lnSpc>
                <a:spcPct val="130000"/>
              </a:lnSpc>
              <a:spcBef>
                <a:spcPts val="500"/>
              </a:spcBef>
              <a:spcAft>
                <a:spcPts val="0"/>
              </a:spcAft>
              <a:buClr>
                <a:schemeClr val="dk2"/>
              </a:buClr>
              <a:buSzPts val="1600"/>
              <a:buFont typeface="Arial"/>
              <a:buChar char="•"/>
              <a:defRPr sz="1400" b="0" i="0" u="none" strike="noStrike" cap="none">
                <a:solidFill>
                  <a:schemeClr val="dk1"/>
                </a:solidFill>
                <a:latin typeface="Arial"/>
                <a:ea typeface="Arial"/>
                <a:cs typeface="Arial"/>
                <a:sym typeface="Arial"/>
              </a:defRPr>
            </a:lvl1pPr>
            <a:lvl2pPr marL="914400" marR="0" lvl="1" indent="-330200" algn="l" rtl="0">
              <a:lnSpc>
                <a:spcPct val="130000"/>
              </a:lnSpc>
              <a:spcBef>
                <a:spcPts val="500"/>
              </a:spcBef>
              <a:spcAft>
                <a:spcPts val="0"/>
              </a:spcAft>
              <a:buClr>
                <a:schemeClr val="dk2"/>
              </a:buClr>
              <a:buSzPts val="1600"/>
              <a:buFont typeface="NTR"/>
              <a:buChar char="-"/>
              <a:defRPr sz="1400" b="0" i="0" u="none" strike="noStrike" cap="none">
                <a:solidFill>
                  <a:schemeClr val="dk1"/>
                </a:solidFill>
                <a:latin typeface="Arial"/>
                <a:ea typeface="Arial"/>
                <a:cs typeface="Arial"/>
                <a:sym typeface="Arial"/>
              </a:defRPr>
            </a:lvl2pPr>
            <a:lvl3pPr marL="1371600" marR="0" lvl="2" indent="-330200" algn="l" rtl="0">
              <a:lnSpc>
                <a:spcPct val="130000"/>
              </a:lnSpc>
              <a:spcBef>
                <a:spcPts val="500"/>
              </a:spcBef>
              <a:spcAft>
                <a:spcPts val="0"/>
              </a:spcAft>
              <a:buClr>
                <a:schemeClr val="dk2"/>
              </a:buClr>
              <a:buSzPts val="1600"/>
              <a:buFont typeface="NTR"/>
              <a:buChar char="-"/>
              <a:defRPr sz="1400" b="0" i="0" u="none" strike="noStrike" cap="none">
                <a:solidFill>
                  <a:schemeClr val="dk1"/>
                </a:solidFill>
                <a:latin typeface="Arial"/>
                <a:ea typeface="Arial"/>
                <a:cs typeface="Arial"/>
                <a:sym typeface="Arial"/>
              </a:defRPr>
            </a:lvl3pPr>
            <a:lvl4pPr marL="1828800" marR="0" lvl="3" indent="-330200" algn="l" rtl="0">
              <a:lnSpc>
                <a:spcPct val="130000"/>
              </a:lnSpc>
              <a:spcBef>
                <a:spcPts val="500"/>
              </a:spcBef>
              <a:spcAft>
                <a:spcPts val="0"/>
              </a:spcAft>
              <a:buClr>
                <a:schemeClr val="dk2"/>
              </a:buClr>
              <a:buSzPts val="1600"/>
              <a:buFont typeface="NTR"/>
              <a:buChar char="-"/>
              <a:defRPr sz="1400" b="0" i="0" u="none" strike="noStrike" cap="none">
                <a:solidFill>
                  <a:schemeClr val="dk1"/>
                </a:solidFill>
                <a:latin typeface="Arial"/>
                <a:ea typeface="Arial"/>
                <a:cs typeface="Arial"/>
                <a:sym typeface="Arial"/>
              </a:defRPr>
            </a:lvl4pPr>
            <a:lvl5pPr marL="2286000" marR="0" lvl="4" indent="-330200" algn="l" rtl="0">
              <a:lnSpc>
                <a:spcPct val="130000"/>
              </a:lnSpc>
              <a:spcBef>
                <a:spcPts val="500"/>
              </a:spcBef>
              <a:spcAft>
                <a:spcPts val="0"/>
              </a:spcAft>
              <a:buClr>
                <a:schemeClr val="dk2"/>
              </a:buClr>
              <a:buSzPts val="1600"/>
              <a:buFont typeface="NTR"/>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pic>
        <p:nvPicPr>
          <p:cNvPr id="53" name="Google Shape;53;p13" descr="University at Buffalo, The State University of New York logo"/>
          <p:cNvPicPr preferRelativeResize="0"/>
          <p:nvPr/>
        </p:nvPicPr>
        <p:blipFill rotWithShape="1">
          <a:blip r:embed="rId15">
            <a:alphaModFix/>
          </a:blip>
          <a:srcRect/>
          <a:stretch/>
        </p:blipFill>
        <p:spPr>
          <a:xfrm>
            <a:off x="266700" y="240860"/>
            <a:ext cx="3600450" cy="267022"/>
          </a:xfrm>
          <a:prstGeom prst="rect">
            <a:avLst/>
          </a:prstGeom>
          <a:noFill/>
          <a:ln>
            <a:noFill/>
          </a:ln>
        </p:spPr>
      </p:pic>
      <p:sp>
        <p:nvSpPr>
          <p:cNvPr id="54" name="Google Shape;54;p13"/>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lvl1pPr marR="0" lvl="0" algn="r" rtl="0">
              <a:spcBef>
                <a:spcPts val="0"/>
              </a:spcBef>
              <a:spcAft>
                <a:spcPts val="0"/>
              </a:spcAft>
              <a:buSzPts val="11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6"/>
          <p:cNvSpPr txBox="1">
            <a:spLocks noGrp="1"/>
          </p:cNvSpPr>
          <p:nvPr>
            <p:ph type="ctrTitle"/>
          </p:nvPr>
        </p:nvSpPr>
        <p:spPr>
          <a:xfrm>
            <a:off x="559130" y="86523"/>
            <a:ext cx="5252700" cy="1390800"/>
          </a:xfrm>
          <a:prstGeom prst="rect">
            <a:avLst/>
          </a:prstGeom>
          <a:noFill/>
          <a:ln>
            <a:noFill/>
          </a:ln>
        </p:spPr>
        <p:txBody>
          <a:bodyPr spcFirstLastPara="1" wrap="square" lIns="0" tIns="34275" rIns="68575" bIns="34275" anchor="b" anchorCtr="0">
            <a:noAutofit/>
          </a:bodyPr>
          <a:lstStyle/>
          <a:p>
            <a:pPr marL="0" lvl="0" indent="0" algn="l" rtl="0">
              <a:lnSpc>
                <a:spcPct val="100000"/>
              </a:lnSpc>
              <a:spcBef>
                <a:spcPts val="0"/>
              </a:spcBef>
              <a:spcAft>
                <a:spcPts val="0"/>
              </a:spcAft>
              <a:buClr>
                <a:schemeClr val="lt1"/>
              </a:buClr>
              <a:buSzPts val="3000"/>
              <a:buFont typeface="Arial"/>
              <a:buNone/>
            </a:pPr>
            <a:r>
              <a:rPr lang="en" sz="2500" dirty="0"/>
              <a:t>Enhanced Image Inpainting using Transformer-GAN Hybrid Models</a:t>
            </a:r>
            <a:endParaRPr sz="4000" dirty="0"/>
          </a:p>
        </p:txBody>
      </p:sp>
      <p:sp>
        <p:nvSpPr>
          <p:cNvPr id="114" name="Google Shape;114;p26"/>
          <p:cNvSpPr txBox="1">
            <a:spLocks noGrp="1"/>
          </p:cNvSpPr>
          <p:nvPr>
            <p:ph type="body" idx="1"/>
          </p:nvPr>
        </p:nvSpPr>
        <p:spPr>
          <a:xfrm>
            <a:off x="559130" y="2208670"/>
            <a:ext cx="6000759" cy="1860322"/>
          </a:xfrm>
          <a:prstGeom prst="rect">
            <a:avLst/>
          </a:prstGeom>
          <a:noFill/>
          <a:ln>
            <a:noFill/>
          </a:ln>
        </p:spPr>
        <p:txBody>
          <a:bodyPr spcFirstLastPara="1" wrap="square" lIns="0" tIns="34275" rIns="68575" bIns="34275" anchor="t" anchorCtr="0">
            <a:noAutofit/>
          </a:bodyPr>
          <a:lstStyle/>
          <a:p>
            <a:pPr marL="0" lvl="0" indent="0" algn="l" rtl="0">
              <a:lnSpc>
                <a:spcPct val="130000"/>
              </a:lnSpc>
              <a:spcBef>
                <a:spcPts val="0"/>
              </a:spcBef>
              <a:spcAft>
                <a:spcPts val="0"/>
              </a:spcAft>
              <a:buSzPts val="1800"/>
              <a:buNone/>
            </a:pPr>
            <a:r>
              <a:rPr lang="en" sz="1500" b="1" dirty="0"/>
              <a:t>Presenters:</a:t>
            </a:r>
            <a:endParaRPr b="1" dirty="0"/>
          </a:p>
          <a:p>
            <a:pPr marL="0" lvl="0" indent="0" algn="l" rtl="0">
              <a:lnSpc>
                <a:spcPct val="130000"/>
              </a:lnSpc>
              <a:spcBef>
                <a:spcPts val="500"/>
              </a:spcBef>
              <a:spcAft>
                <a:spcPts val="0"/>
              </a:spcAft>
              <a:buSzPts val="1800"/>
              <a:buNone/>
            </a:pPr>
            <a:r>
              <a:rPr lang="fi-FI" sz="1200" dirty="0"/>
              <a:t>      Veera Saiva Sai Lakshmi Kalyan (50595073)</a:t>
            </a:r>
          </a:p>
          <a:p>
            <a:pPr marL="0" lvl="0" indent="0" algn="l" rtl="0">
              <a:lnSpc>
                <a:spcPct val="130000"/>
              </a:lnSpc>
              <a:spcBef>
                <a:spcPts val="500"/>
              </a:spcBef>
              <a:spcAft>
                <a:spcPts val="0"/>
              </a:spcAft>
              <a:buSzPts val="1800"/>
              <a:buNone/>
            </a:pPr>
            <a:r>
              <a:rPr lang="fi-FI" sz="1200" dirty="0"/>
              <a:t>      </a:t>
            </a:r>
            <a:r>
              <a:rPr lang="en" sz="1200" dirty="0"/>
              <a:t>Taran Mamidala (50604177)</a:t>
            </a:r>
          </a:p>
          <a:p>
            <a:pPr marL="0" lvl="0" indent="0" algn="l" rtl="0">
              <a:lnSpc>
                <a:spcPct val="130000"/>
              </a:lnSpc>
              <a:spcBef>
                <a:spcPts val="500"/>
              </a:spcBef>
              <a:spcAft>
                <a:spcPts val="0"/>
              </a:spcAft>
              <a:buSzPts val="1800"/>
              <a:buNone/>
            </a:pPr>
            <a:r>
              <a:rPr lang="en-US" sz="1200" dirty="0"/>
              <a:t>      </a:t>
            </a:r>
            <a:r>
              <a:rPr lang="en-US" sz="1200" dirty="0" err="1"/>
              <a:t>Jupalli</a:t>
            </a:r>
            <a:r>
              <a:rPr lang="en-US" sz="1200" dirty="0"/>
              <a:t> Sai Abhisekh Reddy (50604117)</a:t>
            </a:r>
          </a:p>
          <a:p>
            <a:pPr marL="0" lvl="0" indent="0" algn="l" rtl="0">
              <a:lnSpc>
                <a:spcPct val="130000"/>
              </a:lnSpc>
              <a:spcBef>
                <a:spcPts val="500"/>
              </a:spcBef>
              <a:spcAft>
                <a:spcPts val="0"/>
              </a:spcAft>
              <a:buSzPts val="1800"/>
              <a:buNone/>
            </a:pPr>
            <a:endParaRPr lang="en-US" sz="1200" b="1" dirty="0"/>
          </a:p>
          <a:p>
            <a:pPr marL="0" lvl="0" indent="0" algn="l" rtl="0">
              <a:lnSpc>
                <a:spcPct val="100000"/>
              </a:lnSpc>
              <a:spcBef>
                <a:spcPts val="500"/>
              </a:spcBef>
              <a:spcAft>
                <a:spcPts val="0"/>
              </a:spcAft>
              <a:buSzPts val="1800"/>
              <a:buNone/>
            </a:pPr>
            <a:r>
              <a:rPr lang="en" sz="1500" b="1" dirty="0"/>
              <a:t>CSE 676-B: Deep Learning</a:t>
            </a:r>
            <a:endParaRPr b="1" dirty="0"/>
          </a:p>
          <a:p>
            <a:pPr marL="0" lvl="0" indent="0" algn="l" rtl="0">
              <a:lnSpc>
                <a:spcPct val="100000"/>
              </a:lnSpc>
              <a:spcBef>
                <a:spcPts val="500"/>
              </a:spcBef>
              <a:spcAft>
                <a:spcPts val="0"/>
              </a:spcAft>
              <a:buSzPts val="1800"/>
              <a:buNone/>
            </a:pPr>
            <a:r>
              <a:rPr lang="en" sz="1500" dirty="0"/>
              <a:t>Instructor: </a:t>
            </a:r>
            <a:r>
              <a:rPr lang="en" sz="1500" b="1" dirty="0"/>
              <a:t>Dr. Alina Vereshchaka</a:t>
            </a:r>
            <a:r>
              <a:rPr lang="en" sz="1500" dirty="0"/>
              <a:t>, Spring 2025</a:t>
            </a:r>
            <a:endParaRPr dirty="0"/>
          </a:p>
        </p:txBody>
      </p:sp>
      <p:sp>
        <p:nvSpPr>
          <p:cNvPr id="2" name="TextBox 1">
            <a:extLst>
              <a:ext uri="{FF2B5EF4-FFF2-40B4-BE49-F238E27FC236}">
                <a16:creationId xmlns:a16="http://schemas.microsoft.com/office/drawing/2014/main" id="{2D8985A5-36AE-FE9A-7216-8DA2F7ADAEE2}"/>
              </a:ext>
            </a:extLst>
          </p:cNvPr>
          <p:cNvSpPr txBox="1"/>
          <p:nvPr/>
        </p:nvSpPr>
        <p:spPr>
          <a:xfrm>
            <a:off x="467933" y="1691425"/>
            <a:ext cx="2236631" cy="307777"/>
          </a:xfrm>
          <a:prstGeom prst="rect">
            <a:avLst/>
          </a:prstGeom>
          <a:noFill/>
        </p:spPr>
        <p:txBody>
          <a:bodyPr wrap="square" rtlCol="0">
            <a:spAutoFit/>
          </a:bodyPr>
          <a:lstStyle/>
          <a:p>
            <a:r>
              <a:rPr lang="en-US" b="1" dirty="0">
                <a:solidFill>
                  <a:schemeClr val="bg1"/>
                </a:solidFill>
                <a:latin typeface="Arial Black" panose="020B0A04020102020204" pitchFamily="34" charset="0"/>
              </a:rPr>
              <a:t>Group - 32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7"/>
          <p:cNvSpPr txBox="1">
            <a:spLocks noGrp="1"/>
          </p:cNvSpPr>
          <p:nvPr>
            <p:ph type="body" idx="1"/>
          </p:nvPr>
        </p:nvSpPr>
        <p:spPr>
          <a:xfrm>
            <a:off x="425196" y="1398016"/>
            <a:ext cx="7859100" cy="3534784"/>
          </a:xfrm>
          <a:prstGeom prst="rect">
            <a:avLst/>
          </a:prstGeom>
          <a:noFill/>
          <a:ln>
            <a:noFill/>
          </a:ln>
        </p:spPr>
        <p:txBody>
          <a:bodyPr spcFirstLastPara="1" wrap="square" lIns="68575" tIns="34275" rIns="68575" bIns="34275" anchor="ctr" anchorCtr="0">
            <a:spAutoFit/>
          </a:bodyPr>
          <a:lstStyle/>
          <a:p>
            <a:pPr marL="0" indent="0">
              <a:lnSpc>
                <a:spcPct val="100000"/>
              </a:lnSpc>
              <a:spcBef>
                <a:spcPts val="0"/>
              </a:spcBef>
              <a:buNone/>
            </a:pPr>
            <a:r>
              <a:rPr kumimoji="0" lang="en-US" altLang="en-US" sz="1100" b="0" i="0" u="none" strike="noStrike" cap="none" normalizeH="0" baseline="0" dirty="0">
                <a:ln>
                  <a:noFill/>
                </a:ln>
                <a:solidFill>
                  <a:schemeClr val="tx1"/>
                </a:solidFill>
                <a:effectLst/>
                <a:latin typeface="Arial" panose="020B0604020202020204" pitchFamily="34" charset="0"/>
              </a:rPr>
              <a:t>The objective of our Project image inpainting using GAN models is to realistically fill in any damaged or missing areas of an image. While traditional models like BIG-GAN perform well, they frequently fall short in maintaining fine details or achieving results that are smooth and realistic-looking.</a:t>
            </a:r>
          </a:p>
          <a:p>
            <a:pPr marL="0" marR="0" lvl="0" indent="0" algn="l" rtl="0">
              <a:lnSpc>
                <a:spcPct val="100000"/>
              </a:lnSpc>
              <a:spcBef>
                <a:spcPts val="0"/>
              </a:spcBef>
              <a:spcAft>
                <a:spcPts val="0"/>
              </a:spcAft>
              <a:buNone/>
            </a:pPr>
            <a:endParaRPr lang="en-US" sz="1100" dirty="0"/>
          </a:p>
          <a:p>
            <a:pPr marL="0" marR="0" lvl="0" indent="0" algn="l" rtl="0">
              <a:lnSpc>
                <a:spcPct val="100000"/>
              </a:lnSpc>
              <a:spcBef>
                <a:spcPts val="0"/>
              </a:spcBef>
              <a:spcAft>
                <a:spcPts val="0"/>
              </a:spcAft>
              <a:buNone/>
            </a:pPr>
            <a:r>
              <a:rPr lang="en" sz="1200" b="1" dirty="0"/>
              <a:t>Key Challenges:</a:t>
            </a:r>
            <a:r>
              <a:rPr lang="en" sz="1200" b="0" i="0" u="none" strike="noStrike" cap="none" dirty="0">
                <a:latin typeface="Arial"/>
                <a:ea typeface="Arial"/>
                <a:cs typeface="Arial"/>
                <a:sym typeface="Arial"/>
              </a:rPr>
              <a:t> </a:t>
            </a:r>
            <a:endParaRPr sz="12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lang="en-US" sz="1200" dirty="0"/>
          </a:p>
          <a:p>
            <a:pPr marL="457200" lvl="0" indent="0" algn="l" rtl="0">
              <a:lnSpc>
                <a:spcPct val="100000"/>
              </a:lnSpc>
              <a:spcBef>
                <a:spcPts val="0"/>
              </a:spcBef>
              <a:spcAft>
                <a:spcPts val="0"/>
              </a:spcAft>
              <a:buNone/>
            </a:pPr>
            <a:r>
              <a:rPr lang="en" sz="1100" b="1" dirty="0"/>
              <a:t>Blur Images:</a:t>
            </a:r>
            <a:endParaRPr sz="1200" dirty="0"/>
          </a:p>
          <a:p>
            <a:pPr marL="914400" lvl="0" indent="-298450" algn="l" rtl="0">
              <a:lnSpc>
                <a:spcPct val="115000"/>
              </a:lnSpc>
              <a:spcBef>
                <a:spcPts val="0"/>
              </a:spcBef>
              <a:spcAft>
                <a:spcPts val="0"/>
              </a:spcAft>
              <a:buSzPts val="1100"/>
              <a:buChar char="•"/>
            </a:pPr>
            <a:r>
              <a:rPr lang="en" sz="1100" dirty="0">
                <a:solidFill>
                  <a:srgbClr val="000000"/>
                </a:solidFill>
              </a:rPr>
              <a:t>GAN-based models may generate </a:t>
            </a:r>
            <a:r>
              <a:rPr lang="en" sz="1100" b="1" dirty="0">
                <a:solidFill>
                  <a:srgbClr val="000000"/>
                </a:solidFill>
              </a:rPr>
              <a:t>blurry or inconsistent textures</a:t>
            </a:r>
            <a:r>
              <a:rPr lang="en" sz="1100" dirty="0">
                <a:solidFill>
                  <a:srgbClr val="000000"/>
                </a:solidFill>
              </a:rPr>
              <a:t>, especially in large missing regions.</a:t>
            </a:r>
            <a:endParaRPr sz="1100" dirty="0"/>
          </a:p>
          <a:p>
            <a:pPr marL="914400" lvl="0" indent="0" algn="l" rtl="0">
              <a:lnSpc>
                <a:spcPct val="115000"/>
              </a:lnSpc>
              <a:spcBef>
                <a:spcPts val="0"/>
              </a:spcBef>
              <a:spcAft>
                <a:spcPts val="0"/>
              </a:spcAft>
              <a:buNone/>
            </a:pPr>
            <a:endParaRPr lang="en-US" sz="1100" dirty="0"/>
          </a:p>
          <a:p>
            <a:pPr marL="457200" lvl="0" indent="0" algn="l" rtl="0">
              <a:lnSpc>
                <a:spcPct val="115000"/>
              </a:lnSpc>
              <a:spcBef>
                <a:spcPts val="0"/>
              </a:spcBef>
              <a:spcAft>
                <a:spcPts val="0"/>
              </a:spcAft>
              <a:buNone/>
            </a:pPr>
            <a:r>
              <a:rPr lang="en" sz="1100" b="1" dirty="0"/>
              <a:t>Loss &amp; Poor Structural consistency:</a:t>
            </a:r>
            <a:endParaRPr sz="1200" dirty="0"/>
          </a:p>
          <a:p>
            <a:pPr marL="914400" lvl="0" indent="-298450" algn="l" rtl="0">
              <a:lnSpc>
                <a:spcPct val="115000"/>
              </a:lnSpc>
              <a:spcBef>
                <a:spcPts val="0"/>
              </a:spcBef>
              <a:spcAft>
                <a:spcPts val="0"/>
              </a:spcAft>
              <a:buSzPts val="1100"/>
              <a:buChar char="•"/>
            </a:pPr>
            <a:r>
              <a:rPr lang="en" sz="1100" dirty="0">
                <a:solidFill>
                  <a:srgbClr val="000000"/>
                </a:solidFill>
              </a:rPr>
              <a:t>It's hard to maintain the original </a:t>
            </a:r>
            <a:r>
              <a:rPr lang="en" sz="1100" b="1" dirty="0">
                <a:solidFill>
                  <a:srgbClr val="000000"/>
                </a:solidFill>
              </a:rPr>
              <a:t>shape, symmetry, or geometry</a:t>
            </a:r>
            <a:r>
              <a:rPr lang="en" sz="1100" dirty="0">
                <a:solidFill>
                  <a:srgbClr val="000000"/>
                </a:solidFill>
              </a:rPr>
              <a:t> of objects in the image.</a:t>
            </a:r>
            <a:r>
              <a:rPr lang="en" sz="1100" dirty="0"/>
              <a:t>.</a:t>
            </a:r>
            <a:endParaRPr sz="1100" dirty="0"/>
          </a:p>
          <a:p>
            <a:pPr marL="914400" lvl="0" indent="-298450" algn="l" rtl="0">
              <a:lnSpc>
                <a:spcPct val="115000"/>
              </a:lnSpc>
              <a:spcBef>
                <a:spcPts val="0"/>
              </a:spcBef>
              <a:spcAft>
                <a:spcPts val="0"/>
              </a:spcAft>
              <a:buSzPts val="1100"/>
              <a:buChar char="•"/>
            </a:pPr>
            <a:r>
              <a:rPr lang="en" sz="1100" dirty="0">
                <a:solidFill>
                  <a:srgbClr val="000000"/>
                </a:solidFill>
              </a:rPr>
              <a:t>Models may </a:t>
            </a:r>
            <a:r>
              <a:rPr lang="en" sz="1100" b="1" dirty="0">
                <a:solidFill>
                  <a:srgbClr val="000000"/>
                </a:solidFill>
              </a:rPr>
              <a:t>lose fine textures</a:t>
            </a:r>
            <a:r>
              <a:rPr lang="en" sz="1100" dirty="0">
                <a:solidFill>
                  <a:srgbClr val="000000"/>
                </a:solidFill>
              </a:rPr>
              <a:t>, making the inpainted regions look artificial or mismatched</a:t>
            </a:r>
            <a:endParaRPr sz="1100" dirty="0"/>
          </a:p>
          <a:p>
            <a:pPr marL="457200" lvl="0" indent="0" algn="l" rtl="0">
              <a:lnSpc>
                <a:spcPct val="115000"/>
              </a:lnSpc>
              <a:spcBef>
                <a:spcPts val="0"/>
              </a:spcBef>
              <a:spcAft>
                <a:spcPts val="0"/>
              </a:spcAft>
              <a:buNone/>
            </a:pPr>
            <a:endParaRPr sz="1100" dirty="0"/>
          </a:p>
          <a:p>
            <a:pPr marL="0" marR="0" lvl="0" indent="0" algn="l" rtl="0">
              <a:lnSpc>
                <a:spcPct val="100000"/>
              </a:lnSpc>
              <a:spcBef>
                <a:spcPts val="0"/>
              </a:spcBef>
              <a:spcAft>
                <a:spcPts val="0"/>
              </a:spcAft>
              <a:buNone/>
            </a:pPr>
            <a:r>
              <a:rPr lang="en" sz="1200" b="1" i="0" u="none" strike="noStrike" cap="none" dirty="0">
                <a:latin typeface="Arial"/>
                <a:ea typeface="Arial"/>
                <a:cs typeface="Arial"/>
                <a:sym typeface="Arial"/>
              </a:rPr>
              <a:t>Purpose:</a:t>
            </a:r>
            <a:r>
              <a:rPr lang="en" sz="1200" b="0" i="0" u="none" strike="noStrike" cap="none" dirty="0">
                <a:latin typeface="Arial"/>
                <a:ea typeface="Arial"/>
                <a:cs typeface="Arial"/>
                <a:sym typeface="Arial"/>
              </a:rPr>
              <a:t>  </a:t>
            </a:r>
          </a:p>
          <a:p>
            <a:pPr marL="0" marR="0" lvl="0" indent="0" algn="l" rtl="0">
              <a:lnSpc>
                <a:spcPct val="100000"/>
              </a:lnSpc>
              <a:spcBef>
                <a:spcPts val="0"/>
              </a:spcBef>
              <a:spcAft>
                <a:spcPts val="0"/>
              </a:spcAft>
              <a:buNone/>
            </a:pPr>
            <a:endParaRPr sz="1200" b="0" i="0" u="none" strike="noStrike" cap="none" dirty="0">
              <a:latin typeface="Arial"/>
              <a:ea typeface="Arial"/>
              <a:cs typeface="Arial"/>
              <a:sym typeface="Arial"/>
            </a:endParaRPr>
          </a:p>
          <a:p>
            <a:pPr marL="457200" lvl="1" indent="0">
              <a:lnSpc>
                <a:spcPct val="100000"/>
              </a:lnSpc>
              <a:spcBef>
                <a:spcPts val="0"/>
              </a:spcBef>
              <a:buNone/>
            </a:pPr>
            <a:r>
              <a:rPr lang="en" sz="1100" dirty="0">
                <a:solidFill>
                  <a:srgbClr val="000000"/>
                </a:solidFill>
              </a:rPr>
              <a:t>To Build a </a:t>
            </a:r>
            <a:r>
              <a:rPr lang="en" sz="1100" b="1" dirty="0">
                <a:solidFill>
                  <a:srgbClr val="000000"/>
                </a:solidFill>
              </a:rPr>
              <a:t>Transformer-GAN hybrid model</a:t>
            </a:r>
            <a:r>
              <a:rPr lang="en" sz="1100" dirty="0">
                <a:solidFill>
                  <a:srgbClr val="000000"/>
                </a:solidFill>
              </a:rPr>
              <a:t> that combines:</a:t>
            </a:r>
            <a:endParaRPr lang="en-US" sz="1100" dirty="0">
              <a:solidFill>
                <a:srgbClr val="000000"/>
              </a:solidFill>
            </a:endParaRPr>
          </a:p>
          <a:p>
            <a:pPr lvl="1" indent="-298450">
              <a:lnSpc>
                <a:spcPct val="115000"/>
              </a:lnSpc>
              <a:spcBef>
                <a:spcPts val="1200"/>
              </a:spcBef>
              <a:buClr>
                <a:srgbClr val="000000"/>
              </a:buClr>
              <a:buSzPts val="1100"/>
              <a:buChar char="●"/>
            </a:pPr>
            <a:r>
              <a:rPr lang="en-US" sz="1100" b="1" dirty="0">
                <a:solidFill>
                  <a:srgbClr val="000000"/>
                </a:solidFill>
              </a:rPr>
              <a:t>Transformers</a:t>
            </a:r>
            <a:r>
              <a:rPr lang="en-US" sz="1100" dirty="0">
                <a:solidFill>
                  <a:srgbClr val="000000"/>
                </a:solidFill>
              </a:rPr>
              <a:t> for capturing the </a:t>
            </a:r>
            <a:r>
              <a:rPr lang="en-US" sz="1100" b="1" dirty="0">
                <a:solidFill>
                  <a:srgbClr val="000000"/>
                </a:solidFill>
              </a:rPr>
              <a:t>global structure</a:t>
            </a:r>
            <a:r>
              <a:rPr lang="en-US" sz="1100" dirty="0">
                <a:solidFill>
                  <a:srgbClr val="000000"/>
                </a:solidFill>
              </a:rPr>
              <a:t> of the image</a:t>
            </a:r>
          </a:p>
          <a:p>
            <a:pPr lvl="1" indent="-298450">
              <a:lnSpc>
                <a:spcPct val="115000"/>
              </a:lnSpc>
              <a:spcBef>
                <a:spcPts val="0"/>
              </a:spcBef>
              <a:buClr>
                <a:srgbClr val="000000"/>
              </a:buClr>
              <a:buSzPts val="1100"/>
              <a:buChar char="●"/>
            </a:pPr>
            <a:r>
              <a:rPr lang="en" sz="1100" b="1" dirty="0">
                <a:solidFill>
                  <a:srgbClr val="000000"/>
                </a:solidFill>
              </a:rPr>
              <a:t>GANs</a:t>
            </a:r>
            <a:r>
              <a:rPr lang="en" sz="1100" dirty="0">
                <a:solidFill>
                  <a:srgbClr val="000000"/>
                </a:solidFill>
              </a:rPr>
              <a:t> for generating </a:t>
            </a:r>
            <a:r>
              <a:rPr lang="en" sz="1100" b="1" dirty="0">
                <a:solidFill>
                  <a:srgbClr val="000000"/>
                </a:solidFill>
              </a:rPr>
              <a:t>fine, detailed textures</a:t>
            </a:r>
            <a:endParaRPr sz="1100" b="1" dirty="0">
              <a:solidFill>
                <a:srgbClr val="000000"/>
              </a:solidFill>
            </a:endParaRPr>
          </a:p>
        </p:txBody>
      </p:sp>
      <p:sp>
        <p:nvSpPr>
          <p:cNvPr id="120" name="Google Shape;120;p27"/>
          <p:cNvSpPr txBox="1">
            <a:spLocks noGrp="1"/>
          </p:cNvSpPr>
          <p:nvPr>
            <p:ph type="title"/>
          </p:nvPr>
        </p:nvSpPr>
        <p:spPr>
          <a:xfrm>
            <a:off x="425196" y="899837"/>
            <a:ext cx="2963890" cy="401700"/>
          </a:xfrm>
          <a:prstGeom prst="rect">
            <a:avLst/>
          </a:prstGeom>
          <a:noFill/>
          <a:ln>
            <a:noFill/>
          </a:ln>
        </p:spPr>
        <p:txBody>
          <a:bodyPr spcFirstLastPara="1" wrap="square" lIns="68575" tIns="34275" rIns="68575" bIns="34275" anchor="b" anchorCtr="0">
            <a:spAutoFit/>
          </a:bodyPr>
          <a:lstStyle/>
          <a:p>
            <a:pPr marL="0" lvl="0" indent="0" algn="l" rtl="0">
              <a:lnSpc>
                <a:spcPct val="90000"/>
              </a:lnSpc>
              <a:spcBef>
                <a:spcPts val="0"/>
              </a:spcBef>
              <a:spcAft>
                <a:spcPts val="0"/>
              </a:spcAft>
              <a:buClr>
                <a:schemeClr val="dk2"/>
              </a:buClr>
              <a:buSzPts val="2700"/>
              <a:buFont typeface="Georgia"/>
              <a:buNone/>
            </a:pPr>
            <a:r>
              <a:rPr lang="en" sz="2400" dirty="0"/>
              <a:t>Problem Statement</a:t>
            </a:r>
            <a:endParaRPr sz="2400" dirty="0"/>
          </a:p>
        </p:txBody>
      </p:sp>
      <p:sp>
        <p:nvSpPr>
          <p:cNvPr id="121" name="Google Shape;121;p27"/>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8"/>
          <p:cNvSpPr txBox="1">
            <a:spLocks noGrp="1"/>
          </p:cNvSpPr>
          <p:nvPr>
            <p:ph type="body" idx="1"/>
          </p:nvPr>
        </p:nvSpPr>
        <p:spPr>
          <a:xfrm>
            <a:off x="425200" y="1098950"/>
            <a:ext cx="5748073" cy="3700577"/>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200" b="1" dirty="0"/>
              <a:t>Introduction to Image inpainting:</a:t>
            </a:r>
            <a:endParaRPr sz="1200" dirty="0"/>
          </a:p>
          <a:p>
            <a:pPr marL="0" lvl="0" indent="0" algn="l" rtl="0">
              <a:lnSpc>
                <a:spcPct val="115000"/>
              </a:lnSpc>
              <a:spcBef>
                <a:spcPts val="500"/>
              </a:spcBef>
              <a:spcAft>
                <a:spcPts val="0"/>
              </a:spcAft>
              <a:buNone/>
            </a:pPr>
            <a:r>
              <a:rPr lang="en" sz="1200" b="1" dirty="0"/>
              <a:t>What is Image Inpainting?</a:t>
            </a:r>
            <a:r>
              <a:rPr lang="en" sz="1200" dirty="0"/>
              <a:t> </a:t>
            </a:r>
            <a:endParaRPr sz="1200" dirty="0"/>
          </a:p>
          <a:p>
            <a:pPr marL="0" lvl="0" indent="0" algn="l" rtl="0">
              <a:lnSpc>
                <a:spcPct val="115000"/>
              </a:lnSpc>
              <a:spcBef>
                <a:spcPts val="500"/>
              </a:spcBef>
              <a:spcAft>
                <a:spcPts val="0"/>
              </a:spcAft>
              <a:buNone/>
            </a:pPr>
            <a:r>
              <a:rPr lang="en-US" sz="1200" dirty="0"/>
              <a:t>The process of restoring damaged or missing areas of an image is known as image inpainting. Making the finished image appear natural and fit in perfectly with the original information is its aim.</a:t>
            </a:r>
          </a:p>
          <a:p>
            <a:pPr marL="0" lvl="0" indent="0" algn="l" rtl="0">
              <a:lnSpc>
                <a:spcPct val="115000"/>
              </a:lnSpc>
              <a:spcBef>
                <a:spcPts val="500"/>
              </a:spcBef>
              <a:spcAft>
                <a:spcPts val="0"/>
              </a:spcAft>
              <a:buNone/>
            </a:pPr>
            <a:r>
              <a:rPr lang="en" sz="1200" b="1" dirty="0"/>
              <a:t>Importance:</a:t>
            </a:r>
            <a:endParaRPr sz="1200" b="1" dirty="0"/>
          </a:p>
          <a:p>
            <a:pPr marL="457200" lvl="0" indent="-304800" algn="l" rtl="0">
              <a:lnSpc>
                <a:spcPct val="115000"/>
              </a:lnSpc>
              <a:spcBef>
                <a:spcPts val="500"/>
              </a:spcBef>
              <a:spcAft>
                <a:spcPts val="0"/>
              </a:spcAft>
              <a:buClr>
                <a:schemeClr val="dk1"/>
              </a:buClr>
              <a:buSzPts val="1200"/>
              <a:buChar char="●"/>
            </a:pPr>
            <a:r>
              <a:rPr lang="en" sz="1200" dirty="0"/>
              <a:t>Useful in </a:t>
            </a:r>
            <a:r>
              <a:rPr lang="en" sz="1200" b="1" dirty="0"/>
              <a:t>photo restoration</a:t>
            </a:r>
            <a:r>
              <a:rPr lang="en" sz="1200" dirty="0"/>
              <a:t>.</a:t>
            </a:r>
            <a:endParaRPr sz="1200" dirty="0"/>
          </a:p>
          <a:p>
            <a:pPr marL="457200" lvl="0" indent="-304800" algn="l" rtl="0">
              <a:lnSpc>
                <a:spcPct val="115000"/>
              </a:lnSpc>
              <a:spcBef>
                <a:spcPts val="0"/>
              </a:spcBef>
              <a:spcAft>
                <a:spcPts val="0"/>
              </a:spcAft>
              <a:buClr>
                <a:schemeClr val="dk1"/>
              </a:buClr>
              <a:buSzPts val="1200"/>
              <a:buChar char="●"/>
            </a:pPr>
            <a:r>
              <a:rPr lang="en" sz="1200" dirty="0"/>
              <a:t>Helps in </a:t>
            </a:r>
            <a:r>
              <a:rPr lang="en" sz="1200" b="1" dirty="0"/>
              <a:t>removing unwanted objects</a:t>
            </a:r>
            <a:r>
              <a:rPr lang="en" sz="1200" dirty="0"/>
              <a:t> from images.</a:t>
            </a:r>
            <a:endParaRPr sz="1200" dirty="0"/>
          </a:p>
          <a:p>
            <a:pPr marL="457200" lvl="0" indent="-304800" algn="l" rtl="0">
              <a:lnSpc>
                <a:spcPct val="115000"/>
              </a:lnSpc>
              <a:spcBef>
                <a:spcPts val="0"/>
              </a:spcBef>
              <a:spcAft>
                <a:spcPts val="0"/>
              </a:spcAft>
              <a:buClr>
                <a:schemeClr val="dk1"/>
              </a:buClr>
              <a:buSzPts val="1200"/>
              <a:buChar char="●"/>
            </a:pPr>
            <a:r>
              <a:rPr lang="en" sz="1200" dirty="0"/>
              <a:t>Supports </a:t>
            </a:r>
            <a:r>
              <a:rPr lang="en" sz="1200" b="1" dirty="0"/>
              <a:t>medical imaging</a:t>
            </a:r>
            <a:r>
              <a:rPr lang="en" sz="1200" dirty="0"/>
              <a:t> by reconstructing missing or noisy data.</a:t>
            </a:r>
            <a:endParaRPr sz="1200" dirty="0"/>
          </a:p>
          <a:p>
            <a:pPr marL="457200" lvl="0" indent="-304800" algn="l" rtl="0">
              <a:lnSpc>
                <a:spcPct val="115000"/>
              </a:lnSpc>
              <a:spcBef>
                <a:spcPts val="0"/>
              </a:spcBef>
              <a:spcAft>
                <a:spcPts val="0"/>
              </a:spcAft>
              <a:buClr>
                <a:srgbClr val="000000"/>
              </a:buClr>
              <a:buSzPts val="1200"/>
              <a:buChar char="●"/>
            </a:pPr>
            <a:r>
              <a:rPr lang="en" sz="1200" dirty="0"/>
              <a:t>Powers </a:t>
            </a:r>
            <a:r>
              <a:rPr lang="en" sz="1200" b="1" dirty="0"/>
              <a:t>AI-based creative tools</a:t>
            </a:r>
            <a:r>
              <a:rPr lang="en" sz="1200" dirty="0">
                <a:solidFill>
                  <a:srgbClr val="000000"/>
                </a:solidFill>
              </a:rPr>
              <a:t>.</a:t>
            </a:r>
            <a:endParaRPr sz="1200" dirty="0">
              <a:solidFill>
                <a:srgbClr val="000000"/>
              </a:solidFill>
            </a:endParaRPr>
          </a:p>
          <a:p>
            <a:pPr marL="0" lvl="0" indent="0" algn="l" rtl="0">
              <a:lnSpc>
                <a:spcPct val="115000"/>
              </a:lnSpc>
              <a:spcBef>
                <a:spcPts val="500"/>
              </a:spcBef>
              <a:spcAft>
                <a:spcPts val="0"/>
              </a:spcAft>
              <a:buNone/>
            </a:pPr>
            <a:r>
              <a:rPr lang="en" sz="1200" b="1" dirty="0"/>
              <a:t>Real world Applications:</a:t>
            </a:r>
            <a:r>
              <a:rPr lang="en" sz="1200" dirty="0"/>
              <a:t> </a:t>
            </a:r>
            <a:endParaRPr sz="1200" dirty="0"/>
          </a:p>
          <a:p>
            <a:pPr marL="457200" lvl="0" indent="-304800" algn="l" rtl="0">
              <a:lnSpc>
                <a:spcPct val="115000"/>
              </a:lnSpc>
              <a:spcBef>
                <a:spcPts val="500"/>
              </a:spcBef>
              <a:spcAft>
                <a:spcPts val="0"/>
              </a:spcAft>
              <a:buSzPts val="1200"/>
              <a:buChar char="●"/>
            </a:pPr>
            <a:r>
              <a:rPr lang="en" sz="1200" dirty="0"/>
              <a:t>Fixes old or damaged photographs by filling in missing or scratched parts so the image looks complete and fresh.</a:t>
            </a:r>
            <a:endParaRPr sz="1200" dirty="0"/>
          </a:p>
          <a:p>
            <a:pPr marL="457200" lvl="0" indent="-304800" algn="l" rtl="0">
              <a:lnSpc>
                <a:spcPct val="115000"/>
              </a:lnSpc>
              <a:spcBef>
                <a:spcPts val="0"/>
              </a:spcBef>
              <a:spcAft>
                <a:spcPts val="0"/>
              </a:spcAft>
              <a:buSzPts val="1200"/>
              <a:buChar char="●"/>
            </a:pPr>
            <a:r>
              <a:rPr lang="en" sz="1200" dirty="0"/>
              <a:t>Removes unwanted things from images (like people in the background or watermarks) and fills the gap naturally.</a:t>
            </a:r>
            <a:endParaRPr sz="1200" dirty="0"/>
          </a:p>
          <a:p>
            <a:pPr marL="457200" lvl="0" indent="-304800" algn="l" rtl="0">
              <a:lnSpc>
                <a:spcPct val="115000"/>
              </a:lnSpc>
              <a:spcBef>
                <a:spcPts val="0"/>
              </a:spcBef>
              <a:spcAft>
                <a:spcPts val="0"/>
              </a:spcAft>
              <a:buSzPts val="1200"/>
              <a:buChar char="●"/>
            </a:pPr>
            <a:r>
              <a:rPr lang="en" sz="1200" dirty="0"/>
              <a:t>Reconstructs missing parts in medical scans like MRIs or X-rays, helping doctors get a clearer view of organs or tissues.</a:t>
            </a:r>
            <a:endParaRPr sz="1200" dirty="0"/>
          </a:p>
        </p:txBody>
      </p:sp>
      <p:sp>
        <p:nvSpPr>
          <p:cNvPr id="127" name="Google Shape;127;p28"/>
          <p:cNvSpPr txBox="1">
            <a:spLocks noGrp="1"/>
          </p:cNvSpPr>
          <p:nvPr>
            <p:ph type="title"/>
          </p:nvPr>
        </p:nvSpPr>
        <p:spPr>
          <a:xfrm>
            <a:off x="425195" y="697248"/>
            <a:ext cx="5945400" cy="401700"/>
          </a:xfrm>
          <a:prstGeom prst="rect">
            <a:avLst/>
          </a:prstGeom>
          <a:noFill/>
          <a:ln>
            <a:noFill/>
          </a:ln>
        </p:spPr>
        <p:txBody>
          <a:bodyPr spcFirstLastPara="1" wrap="square" lIns="68575" tIns="34275" rIns="68575" bIns="34275" anchor="b" anchorCtr="0">
            <a:spAutoFit/>
          </a:bodyPr>
          <a:lstStyle/>
          <a:p>
            <a:pPr marL="0" lvl="0" indent="0" algn="l" rtl="0">
              <a:lnSpc>
                <a:spcPct val="90000"/>
              </a:lnSpc>
              <a:spcBef>
                <a:spcPts val="0"/>
              </a:spcBef>
              <a:spcAft>
                <a:spcPts val="0"/>
              </a:spcAft>
              <a:buClr>
                <a:schemeClr val="dk2"/>
              </a:buClr>
              <a:buSzPts val="2700"/>
              <a:buFont typeface="Georgia"/>
              <a:buNone/>
            </a:pPr>
            <a:r>
              <a:rPr lang="en" sz="2400"/>
              <a:t>Background</a:t>
            </a:r>
            <a:endParaRPr sz="2400"/>
          </a:p>
        </p:txBody>
      </p:sp>
      <p:sp>
        <p:nvSpPr>
          <p:cNvPr id="128" name="Google Shape;128;p28"/>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a:t>
            </a:fld>
            <a:endParaRPr dirty="0"/>
          </a:p>
        </p:txBody>
      </p:sp>
      <p:pic>
        <p:nvPicPr>
          <p:cNvPr id="3" name="Picture 2" descr="A collage of a group of people&#10;&#10;AI-generated content may be incorrect.">
            <a:extLst>
              <a:ext uri="{FF2B5EF4-FFF2-40B4-BE49-F238E27FC236}">
                <a16:creationId xmlns:a16="http://schemas.microsoft.com/office/drawing/2014/main" id="{8CEAE7AF-5692-2E6A-0E65-DCB11D30139A}"/>
              </a:ext>
            </a:extLst>
          </p:cNvPr>
          <p:cNvPicPr>
            <a:picLocks noChangeAspect="1"/>
          </p:cNvPicPr>
          <p:nvPr/>
        </p:nvPicPr>
        <p:blipFill>
          <a:blip r:embed="rId3"/>
          <a:stretch>
            <a:fillRect/>
          </a:stretch>
        </p:blipFill>
        <p:spPr>
          <a:xfrm>
            <a:off x="6291792" y="1051774"/>
            <a:ext cx="2751144" cy="1449967"/>
          </a:xfrm>
          <a:prstGeom prst="rect">
            <a:avLst/>
          </a:prstGeom>
        </p:spPr>
      </p:pic>
      <p:pic>
        <p:nvPicPr>
          <p:cNvPr id="5" name="Picture 4">
            <a:extLst>
              <a:ext uri="{FF2B5EF4-FFF2-40B4-BE49-F238E27FC236}">
                <a16:creationId xmlns:a16="http://schemas.microsoft.com/office/drawing/2014/main" id="{9C8A1282-7716-00D8-9111-93D37EBBDCF6}"/>
              </a:ext>
            </a:extLst>
          </p:cNvPr>
          <p:cNvPicPr>
            <a:picLocks noChangeAspect="1"/>
          </p:cNvPicPr>
          <p:nvPr/>
        </p:nvPicPr>
        <p:blipFill>
          <a:blip r:embed="rId4"/>
          <a:stretch>
            <a:fillRect/>
          </a:stretch>
        </p:blipFill>
        <p:spPr>
          <a:xfrm>
            <a:off x="6097436" y="2828049"/>
            <a:ext cx="2945500" cy="15854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9"/>
          <p:cNvSpPr txBox="1">
            <a:spLocks noGrp="1"/>
          </p:cNvSpPr>
          <p:nvPr>
            <p:ph type="title"/>
          </p:nvPr>
        </p:nvSpPr>
        <p:spPr>
          <a:xfrm>
            <a:off x="425196" y="696087"/>
            <a:ext cx="5213700" cy="401700"/>
          </a:xfrm>
          <a:prstGeom prst="rect">
            <a:avLst/>
          </a:prstGeom>
        </p:spPr>
        <p:txBody>
          <a:bodyPr spcFirstLastPara="1" wrap="square" lIns="68575" tIns="34275" rIns="68575" bIns="34275" anchor="b" anchorCtr="0">
            <a:spAutoFit/>
          </a:bodyPr>
          <a:lstStyle/>
          <a:p>
            <a:pPr marL="0" lvl="0" indent="0" algn="l" rtl="0">
              <a:spcBef>
                <a:spcPts val="0"/>
              </a:spcBef>
              <a:spcAft>
                <a:spcPts val="0"/>
              </a:spcAft>
              <a:buNone/>
            </a:pPr>
            <a:r>
              <a:rPr lang="en" sz="2400"/>
              <a:t>Dataset Used:</a:t>
            </a:r>
            <a:endParaRPr sz="2400"/>
          </a:p>
        </p:txBody>
      </p:sp>
      <p:sp>
        <p:nvSpPr>
          <p:cNvPr id="134" name="Google Shape;134;p29"/>
          <p:cNvSpPr txBox="1">
            <a:spLocks noGrp="1"/>
          </p:cNvSpPr>
          <p:nvPr>
            <p:ph type="body" idx="1"/>
          </p:nvPr>
        </p:nvSpPr>
        <p:spPr>
          <a:xfrm>
            <a:off x="425196" y="1097787"/>
            <a:ext cx="8458120" cy="3915944"/>
          </a:xfrm>
          <a:prstGeom prst="rect">
            <a:avLst/>
          </a:prstGeom>
        </p:spPr>
        <p:txBody>
          <a:bodyPr spcFirstLastPara="1" wrap="square" lIns="68575" tIns="34275" rIns="68575" bIns="34275" anchor="t" anchorCtr="0">
            <a:noAutofit/>
          </a:bodyPr>
          <a:lstStyle/>
          <a:p>
            <a:pPr marL="0" lvl="0" indent="0" algn="l" rtl="0">
              <a:lnSpc>
                <a:spcPct val="115000"/>
              </a:lnSpc>
              <a:spcBef>
                <a:spcPts val="500"/>
              </a:spcBef>
              <a:spcAft>
                <a:spcPts val="0"/>
              </a:spcAft>
              <a:buNone/>
            </a:pPr>
            <a:r>
              <a:rPr lang="en" sz="1200" b="1" dirty="0"/>
              <a:t>Dataset: </a:t>
            </a:r>
            <a:endParaRPr sz="1200" b="1" dirty="0"/>
          </a:p>
          <a:p>
            <a:pPr marL="0" lvl="0" indent="0" algn="l" rtl="0">
              <a:lnSpc>
                <a:spcPct val="115000"/>
              </a:lnSpc>
              <a:spcBef>
                <a:spcPts val="500"/>
              </a:spcBef>
              <a:spcAft>
                <a:spcPts val="0"/>
              </a:spcAft>
              <a:buNone/>
            </a:pPr>
            <a:r>
              <a:rPr lang="en" sz="1200" dirty="0"/>
              <a:t>Contains over </a:t>
            </a:r>
            <a:r>
              <a:rPr lang="en" sz="1200" b="1" dirty="0"/>
              <a:t>200,000</a:t>
            </a:r>
            <a:r>
              <a:rPr lang="en" sz="1200" dirty="0"/>
              <a:t> celebrity face images.</a:t>
            </a:r>
            <a:br>
              <a:rPr lang="en" sz="1200" dirty="0"/>
            </a:br>
            <a:r>
              <a:rPr lang="en" sz="1200" dirty="0"/>
              <a:t>Each image is </a:t>
            </a:r>
            <a:r>
              <a:rPr lang="en" sz="1200" b="1" dirty="0"/>
              <a:t>cropped and resized</a:t>
            </a:r>
            <a:r>
              <a:rPr lang="en" sz="1200" dirty="0"/>
              <a:t> to 224×224 resolution.</a:t>
            </a:r>
            <a:br>
              <a:rPr lang="en" sz="1200" dirty="0"/>
            </a:br>
            <a:r>
              <a:rPr lang="en-US" sz="1200" dirty="0"/>
              <a:t>With 40 binary attributes (e.g. Smiling, Eyeglasses) </a:t>
            </a:r>
          </a:p>
          <a:p>
            <a:pPr marL="0" lvl="0" indent="0" algn="l" rtl="0">
              <a:lnSpc>
                <a:spcPct val="115000"/>
              </a:lnSpc>
              <a:spcBef>
                <a:spcPts val="500"/>
              </a:spcBef>
              <a:spcAft>
                <a:spcPts val="0"/>
              </a:spcAft>
              <a:buNone/>
            </a:pPr>
            <a:r>
              <a:rPr lang="en-US" sz="1200" dirty="0"/>
              <a:t>Train: 162 770 samples, Val: 19 867 samples Test: 19 962 samples</a:t>
            </a:r>
            <a:endParaRPr sz="1200" dirty="0"/>
          </a:p>
          <a:p>
            <a:pPr marL="0" lvl="0" indent="0" algn="l" rtl="0">
              <a:lnSpc>
                <a:spcPct val="100000"/>
              </a:lnSpc>
              <a:spcBef>
                <a:spcPts val="0"/>
              </a:spcBef>
              <a:spcAft>
                <a:spcPts val="0"/>
              </a:spcAft>
              <a:buNone/>
            </a:pPr>
            <a:endParaRPr sz="1200" dirty="0"/>
          </a:p>
          <a:p>
            <a:pPr marL="0" lvl="0" indent="0" algn="l" rtl="0">
              <a:lnSpc>
                <a:spcPct val="100000"/>
              </a:lnSpc>
              <a:spcBef>
                <a:spcPts val="0"/>
              </a:spcBef>
              <a:spcAft>
                <a:spcPts val="0"/>
              </a:spcAft>
              <a:buNone/>
            </a:pPr>
            <a:r>
              <a:rPr lang="en" sz="1200" b="1" dirty="0"/>
              <a:t>Preprocessing Steps applied:</a:t>
            </a:r>
            <a:endParaRPr sz="1200" b="1" dirty="0"/>
          </a:p>
          <a:p>
            <a:pPr marL="0" lvl="0" indent="0" algn="l" rtl="0">
              <a:lnSpc>
                <a:spcPct val="100000"/>
              </a:lnSpc>
              <a:spcBef>
                <a:spcPts val="0"/>
              </a:spcBef>
              <a:spcAft>
                <a:spcPts val="0"/>
              </a:spcAft>
              <a:buNone/>
            </a:pPr>
            <a:endParaRPr sz="1200" b="1" dirty="0"/>
          </a:p>
          <a:p>
            <a:pPr marL="457200" lvl="0" indent="-304800" algn="l" rtl="0">
              <a:lnSpc>
                <a:spcPct val="115000"/>
              </a:lnSpc>
              <a:spcBef>
                <a:spcPts val="0"/>
              </a:spcBef>
              <a:spcAft>
                <a:spcPts val="0"/>
              </a:spcAft>
              <a:buClr>
                <a:schemeClr val="dk1"/>
              </a:buClr>
              <a:buSzPts val="1200"/>
              <a:buChar char="●"/>
            </a:pPr>
            <a:r>
              <a:rPr lang="en" sz="1200" b="1" dirty="0"/>
              <a:t>Image Normalization</a:t>
            </a:r>
            <a:r>
              <a:rPr lang="en" sz="1200" dirty="0"/>
              <a:t> to scale pixel values to [-1, 1].</a:t>
            </a:r>
            <a:endParaRPr sz="1200" dirty="0"/>
          </a:p>
          <a:p>
            <a:pPr marL="457200" lvl="0" indent="-304800" algn="l" rtl="0">
              <a:lnSpc>
                <a:spcPct val="115000"/>
              </a:lnSpc>
              <a:spcBef>
                <a:spcPts val="0"/>
              </a:spcBef>
              <a:spcAft>
                <a:spcPts val="0"/>
              </a:spcAft>
              <a:buClr>
                <a:schemeClr val="dk1"/>
              </a:buClr>
              <a:buSzPts val="1200"/>
              <a:buChar char="●"/>
            </a:pPr>
            <a:r>
              <a:rPr lang="en" sz="1200" dirty="0"/>
              <a:t>Applied </a:t>
            </a:r>
            <a:r>
              <a:rPr lang="en" sz="1200" b="1" dirty="0"/>
              <a:t>random square masking and also freehand random masking</a:t>
            </a:r>
            <a:r>
              <a:rPr lang="en" sz="1200" dirty="0"/>
              <a:t> to simulate missing image regions (56×56).</a:t>
            </a:r>
            <a:endParaRPr sz="1200" dirty="0"/>
          </a:p>
          <a:p>
            <a:pPr marL="457200" lvl="0" indent="-304800" algn="l" rtl="0">
              <a:lnSpc>
                <a:spcPct val="115000"/>
              </a:lnSpc>
              <a:spcBef>
                <a:spcPts val="0"/>
              </a:spcBef>
              <a:spcAft>
                <a:spcPts val="0"/>
              </a:spcAft>
              <a:buClr>
                <a:schemeClr val="dk1"/>
              </a:buClr>
              <a:buSzPts val="1200"/>
              <a:buChar char="●"/>
            </a:pPr>
            <a:r>
              <a:rPr lang="en" sz="1200" dirty="0"/>
              <a:t>Generated </a:t>
            </a:r>
            <a:r>
              <a:rPr lang="en" sz="1200" b="1" dirty="0"/>
              <a:t>input pairs</a:t>
            </a:r>
            <a:r>
              <a:rPr lang="en" sz="1200" dirty="0"/>
              <a:t>: (masked image, original image).</a:t>
            </a:r>
            <a:endParaRPr sz="1200" dirty="0"/>
          </a:p>
          <a:p>
            <a:pPr marL="457200" lvl="0" indent="-304800" algn="l" rtl="0">
              <a:lnSpc>
                <a:spcPct val="115000"/>
              </a:lnSpc>
              <a:spcBef>
                <a:spcPts val="0"/>
              </a:spcBef>
              <a:spcAft>
                <a:spcPts val="0"/>
              </a:spcAft>
              <a:buClr>
                <a:schemeClr val="dk1"/>
              </a:buClr>
              <a:buSzPts val="1200"/>
              <a:buChar char="●"/>
            </a:pPr>
            <a:r>
              <a:rPr lang="en" sz="1200" dirty="0"/>
              <a:t>Used </a:t>
            </a:r>
            <a:r>
              <a:rPr lang="en" sz="1200" b="1" dirty="0"/>
              <a:t>PyTorch DataLoader</a:t>
            </a:r>
            <a:r>
              <a:rPr lang="en" sz="1200" dirty="0"/>
              <a:t> for efficient batching and shuffling.</a:t>
            </a:r>
          </a:p>
          <a:p>
            <a:pPr marL="457200" lvl="0" indent="-304800" algn="l" rtl="0">
              <a:lnSpc>
                <a:spcPct val="115000"/>
              </a:lnSpc>
              <a:spcBef>
                <a:spcPts val="0"/>
              </a:spcBef>
              <a:spcAft>
                <a:spcPts val="0"/>
              </a:spcAft>
              <a:buClr>
                <a:schemeClr val="dk1"/>
              </a:buClr>
              <a:buSzPts val="1200"/>
              <a:buChar char="●"/>
            </a:pPr>
            <a:endParaRPr sz="1200" dirty="0"/>
          </a:p>
          <a:p>
            <a:pPr marL="0" lvl="0" indent="0" algn="l" rtl="0">
              <a:lnSpc>
                <a:spcPct val="115000"/>
              </a:lnSpc>
              <a:spcBef>
                <a:spcPts val="0"/>
              </a:spcBef>
              <a:spcAft>
                <a:spcPts val="0"/>
              </a:spcAft>
              <a:buNone/>
            </a:pPr>
            <a:r>
              <a:rPr lang="en" sz="1200" b="1" dirty="0"/>
              <a:t>Why?</a:t>
            </a:r>
            <a:endParaRPr sz="1200" b="1" dirty="0"/>
          </a:p>
          <a:p>
            <a:pPr marL="0" lvl="0" indent="0" algn="l" rtl="0">
              <a:lnSpc>
                <a:spcPct val="115000"/>
              </a:lnSpc>
              <a:spcBef>
                <a:spcPts val="0"/>
              </a:spcBef>
              <a:spcAft>
                <a:spcPts val="0"/>
              </a:spcAft>
              <a:buNone/>
            </a:pPr>
            <a:r>
              <a:rPr lang="en" sz="1200" dirty="0"/>
              <a:t>We did these preprocessing steps to teach the model how to fill in missing parts of an image. By randomly masking parts of faces, the model learns to guess what should be there. Normalizing images helps the training go faster and stay stable. Creating consistent input-output pairs ensures the model can compare its guess with the correct answer.</a:t>
            </a:r>
            <a:endParaRPr sz="1200" dirty="0"/>
          </a:p>
        </p:txBody>
      </p:sp>
      <p:sp>
        <p:nvSpPr>
          <p:cNvPr id="135" name="Google Shape;135;p29"/>
          <p:cNvSpPr txBox="1">
            <a:spLocks noGrp="1"/>
          </p:cNvSpPr>
          <p:nvPr>
            <p:ph type="ftr" idx="11"/>
          </p:nvPr>
        </p:nvSpPr>
        <p:spPr>
          <a:xfrm>
            <a:off x="5680710" y="4739831"/>
            <a:ext cx="30861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a:t>
            </a:fld>
            <a:endParaRPr/>
          </a:p>
        </p:txBody>
      </p:sp>
      <p:pic>
        <p:nvPicPr>
          <p:cNvPr id="3" name="Picture 2">
            <a:extLst>
              <a:ext uri="{FF2B5EF4-FFF2-40B4-BE49-F238E27FC236}">
                <a16:creationId xmlns:a16="http://schemas.microsoft.com/office/drawing/2014/main" id="{CB8C16B5-5AF8-2E97-2B3A-242F9AA21232}"/>
              </a:ext>
            </a:extLst>
          </p:cNvPr>
          <p:cNvPicPr>
            <a:picLocks noChangeAspect="1"/>
          </p:cNvPicPr>
          <p:nvPr/>
        </p:nvPicPr>
        <p:blipFill>
          <a:blip r:embed="rId3"/>
          <a:stretch>
            <a:fillRect/>
          </a:stretch>
        </p:blipFill>
        <p:spPr>
          <a:xfrm>
            <a:off x="5142964" y="1438800"/>
            <a:ext cx="3807852" cy="13688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0"/>
          <p:cNvSpPr txBox="1">
            <a:spLocks noGrp="1"/>
          </p:cNvSpPr>
          <p:nvPr>
            <p:ph type="body" idx="1"/>
          </p:nvPr>
        </p:nvSpPr>
        <p:spPr>
          <a:xfrm>
            <a:off x="425196" y="1356474"/>
            <a:ext cx="7325100" cy="3309312"/>
          </a:xfrm>
          <a:prstGeom prst="rect">
            <a:avLst/>
          </a:prstGeom>
        </p:spPr>
        <p:txBody>
          <a:bodyPr spcFirstLastPara="1" wrap="square" lIns="68575" tIns="34275" rIns="68575" bIns="34275" anchor="t" anchorCtr="0">
            <a:noAutofit/>
          </a:bodyPr>
          <a:lstStyle/>
          <a:p>
            <a:pPr marL="0" lvl="0" indent="0" algn="l" rtl="0">
              <a:lnSpc>
                <a:spcPct val="100000"/>
              </a:lnSpc>
              <a:spcBef>
                <a:spcPts val="500"/>
              </a:spcBef>
              <a:spcAft>
                <a:spcPts val="0"/>
              </a:spcAft>
              <a:buNone/>
            </a:pPr>
            <a:r>
              <a:rPr lang="en" sz="1200" b="1" u="sng" dirty="0"/>
              <a:t>What is GAN?</a:t>
            </a:r>
            <a:endParaRPr sz="1200" b="1" u="sng" dirty="0"/>
          </a:p>
          <a:p>
            <a:pPr marL="0" lvl="0" indent="0" algn="l" rtl="0">
              <a:lnSpc>
                <a:spcPct val="115000"/>
              </a:lnSpc>
              <a:spcBef>
                <a:spcPts val="1200"/>
              </a:spcBef>
              <a:spcAft>
                <a:spcPts val="0"/>
              </a:spcAft>
              <a:buNone/>
            </a:pPr>
            <a:r>
              <a:rPr lang="en" sz="1200" dirty="0"/>
              <a:t>A GAN is a type of deep learning model with two parts:</a:t>
            </a:r>
            <a:endParaRPr sz="1200" dirty="0"/>
          </a:p>
          <a:p>
            <a:pPr marL="457200" lvl="0" indent="-304800" algn="l" rtl="0">
              <a:lnSpc>
                <a:spcPct val="115000"/>
              </a:lnSpc>
              <a:spcBef>
                <a:spcPts val="1200"/>
              </a:spcBef>
              <a:spcAft>
                <a:spcPts val="0"/>
              </a:spcAft>
              <a:buClr>
                <a:schemeClr val="dk1"/>
              </a:buClr>
              <a:buSzPts val="1200"/>
              <a:buChar char="●"/>
            </a:pPr>
            <a:r>
              <a:rPr lang="en" sz="1200" b="1" dirty="0"/>
              <a:t>Generator</a:t>
            </a:r>
            <a:r>
              <a:rPr lang="en" sz="1200" dirty="0"/>
              <a:t>: Tries to create realistic images.</a:t>
            </a:r>
            <a:endParaRPr sz="1200" dirty="0"/>
          </a:p>
          <a:p>
            <a:pPr marL="457200" lvl="0" indent="-304800" algn="l" rtl="0">
              <a:lnSpc>
                <a:spcPct val="115000"/>
              </a:lnSpc>
              <a:spcBef>
                <a:spcPts val="0"/>
              </a:spcBef>
              <a:spcAft>
                <a:spcPts val="0"/>
              </a:spcAft>
              <a:buClr>
                <a:schemeClr val="dk1"/>
              </a:buClr>
              <a:buSzPts val="1200"/>
              <a:buChar char="●"/>
            </a:pPr>
            <a:r>
              <a:rPr lang="en" sz="1200" b="1" dirty="0"/>
              <a:t>Discriminator</a:t>
            </a:r>
            <a:r>
              <a:rPr lang="en" sz="1200" dirty="0"/>
              <a:t>: Tries to tell the difference between real and fake images.</a:t>
            </a:r>
            <a:br>
              <a:rPr lang="en" sz="1200" dirty="0"/>
            </a:br>
            <a:r>
              <a:rPr lang="en" sz="1200" dirty="0"/>
              <a:t> They compete with each other, and this "game" helps the generator get better over time.</a:t>
            </a:r>
            <a:endParaRPr sz="1200" dirty="0"/>
          </a:p>
          <a:p>
            <a:pPr marL="0" lvl="0" indent="0" algn="l" rtl="0">
              <a:lnSpc>
                <a:spcPct val="100000"/>
              </a:lnSpc>
              <a:spcBef>
                <a:spcPts val="1200"/>
              </a:spcBef>
              <a:spcAft>
                <a:spcPts val="0"/>
              </a:spcAft>
              <a:buNone/>
            </a:pPr>
            <a:r>
              <a:rPr lang="en" sz="1200" b="1" u="sng" dirty="0"/>
              <a:t>Why GAN?:</a:t>
            </a:r>
            <a:endParaRPr sz="1200" b="1" u="sng" dirty="0"/>
          </a:p>
          <a:p>
            <a:pPr marL="457200" lvl="0" indent="-304800" algn="l" rtl="0">
              <a:lnSpc>
                <a:spcPct val="115000"/>
              </a:lnSpc>
              <a:spcBef>
                <a:spcPts val="1200"/>
              </a:spcBef>
              <a:spcAft>
                <a:spcPts val="0"/>
              </a:spcAft>
              <a:buClr>
                <a:schemeClr val="dk1"/>
              </a:buClr>
              <a:buSzPts val="1200"/>
              <a:buChar char="●"/>
            </a:pPr>
            <a:r>
              <a:rPr lang="en" sz="1200" dirty="0"/>
              <a:t>GANs are </a:t>
            </a:r>
            <a:r>
              <a:rPr lang="en" sz="1200" b="1" dirty="0"/>
              <a:t>great at generating realistic textures and fine details</a:t>
            </a:r>
            <a:r>
              <a:rPr lang="en" sz="1200" dirty="0"/>
              <a:t>, which is critical when filling in missing parts of images.</a:t>
            </a:r>
            <a:endParaRPr sz="1200" dirty="0"/>
          </a:p>
          <a:p>
            <a:pPr marL="457200" lvl="0" indent="-304800" algn="l" rtl="0">
              <a:lnSpc>
                <a:spcPct val="115000"/>
              </a:lnSpc>
              <a:spcBef>
                <a:spcPts val="0"/>
              </a:spcBef>
              <a:spcAft>
                <a:spcPts val="0"/>
              </a:spcAft>
              <a:buClr>
                <a:schemeClr val="dk1"/>
              </a:buClr>
              <a:buSzPts val="1200"/>
              <a:buChar char="●"/>
            </a:pPr>
            <a:r>
              <a:rPr lang="en" sz="1200" dirty="0"/>
              <a:t>They can </a:t>
            </a:r>
            <a:r>
              <a:rPr lang="en" sz="1200" b="1" dirty="0"/>
              <a:t>learn the global structure and local patterns</a:t>
            </a:r>
            <a:r>
              <a:rPr lang="en" sz="1200" dirty="0"/>
              <a:t> of faces, making the inpainted region blend naturally.</a:t>
            </a:r>
            <a:endParaRPr sz="1200" dirty="0"/>
          </a:p>
          <a:p>
            <a:pPr marL="457200" lvl="0" indent="-298450" algn="l" rtl="0">
              <a:lnSpc>
                <a:spcPct val="115000"/>
              </a:lnSpc>
              <a:spcBef>
                <a:spcPts val="0"/>
              </a:spcBef>
              <a:spcAft>
                <a:spcPts val="0"/>
              </a:spcAft>
              <a:buClr>
                <a:srgbClr val="000000"/>
              </a:buClr>
              <a:buSzPts val="1100"/>
              <a:buChar char="●"/>
            </a:pPr>
            <a:r>
              <a:rPr lang="en" sz="1200" dirty="0"/>
              <a:t>Unlike traditional CNN's or autoencoders, GANs focus on realism—not just reconstruction accuracy.</a:t>
            </a:r>
            <a:endParaRPr sz="1100" dirty="0">
              <a:solidFill>
                <a:srgbClr val="000000"/>
              </a:solidFill>
            </a:endParaRPr>
          </a:p>
        </p:txBody>
      </p:sp>
      <p:sp>
        <p:nvSpPr>
          <p:cNvPr id="141" name="Google Shape;141;p30"/>
          <p:cNvSpPr txBox="1">
            <a:spLocks noGrp="1"/>
          </p:cNvSpPr>
          <p:nvPr>
            <p:ph type="title"/>
          </p:nvPr>
        </p:nvSpPr>
        <p:spPr>
          <a:xfrm>
            <a:off x="467010" y="825004"/>
            <a:ext cx="5213700" cy="401700"/>
          </a:xfrm>
          <a:prstGeom prst="rect">
            <a:avLst/>
          </a:prstGeom>
        </p:spPr>
        <p:txBody>
          <a:bodyPr spcFirstLastPara="1" wrap="square" lIns="68575" tIns="34275" rIns="68575" bIns="34275" anchor="b" anchorCtr="0">
            <a:spAutoFit/>
          </a:bodyPr>
          <a:lstStyle/>
          <a:p>
            <a:pPr marL="0" lvl="0" indent="0" algn="l" rtl="0">
              <a:spcBef>
                <a:spcPts val="0"/>
              </a:spcBef>
              <a:spcAft>
                <a:spcPts val="0"/>
              </a:spcAft>
              <a:buNone/>
            </a:pPr>
            <a:r>
              <a:rPr lang="en" sz="2400" b="1" dirty="0"/>
              <a:t>GAN:</a:t>
            </a:r>
            <a:endParaRPr sz="2400" b="1" dirty="0"/>
          </a:p>
        </p:txBody>
      </p:sp>
      <p:sp>
        <p:nvSpPr>
          <p:cNvPr id="142" name="Google Shape;142;p30"/>
          <p:cNvSpPr txBox="1">
            <a:spLocks noGrp="1"/>
          </p:cNvSpPr>
          <p:nvPr>
            <p:ph type="ftr" idx="11"/>
          </p:nvPr>
        </p:nvSpPr>
        <p:spPr>
          <a:xfrm>
            <a:off x="5680710" y="4739831"/>
            <a:ext cx="30861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1"/>
          <p:cNvSpPr txBox="1">
            <a:spLocks noGrp="1"/>
          </p:cNvSpPr>
          <p:nvPr>
            <p:ph type="title"/>
          </p:nvPr>
        </p:nvSpPr>
        <p:spPr>
          <a:xfrm>
            <a:off x="425195" y="920962"/>
            <a:ext cx="3099543" cy="401700"/>
          </a:xfrm>
          <a:prstGeom prst="rect">
            <a:avLst/>
          </a:prstGeom>
          <a:noFill/>
          <a:ln>
            <a:noFill/>
          </a:ln>
        </p:spPr>
        <p:txBody>
          <a:bodyPr spcFirstLastPara="1" wrap="square" lIns="68575" tIns="34275" rIns="68575" bIns="34275" anchor="b" anchorCtr="0">
            <a:spAutoFit/>
          </a:bodyPr>
          <a:lstStyle/>
          <a:p>
            <a:pPr marL="0" lvl="0" indent="0" algn="l" rtl="0">
              <a:lnSpc>
                <a:spcPct val="90000"/>
              </a:lnSpc>
              <a:spcBef>
                <a:spcPts val="0"/>
              </a:spcBef>
              <a:spcAft>
                <a:spcPts val="0"/>
              </a:spcAft>
              <a:buClr>
                <a:schemeClr val="dk2"/>
              </a:buClr>
              <a:buSzPts val="2700"/>
              <a:buFont typeface="Georgia"/>
              <a:buNone/>
            </a:pPr>
            <a:r>
              <a:rPr lang="en" sz="2400" dirty="0"/>
              <a:t>How GAN works?</a:t>
            </a:r>
            <a:endParaRPr sz="2400" dirty="0"/>
          </a:p>
        </p:txBody>
      </p:sp>
      <p:sp>
        <p:nvSpPr>
          <p:cNvPr id="148" name="Google Shape;148;p31"/>
          <p:cNvSpPr txBox="1">
            <a:spLocks noGrp="1"/>
          </p:cNvSpPr>
          <p:nvPr>
            <p:ph type="body" idx="1"/>
          </p:nvPr>
        </p:nvSpPr>
        <p:spPr>
          <a:xfrm>
            <a:off x="425200" y="1378875"/>
            <a:ext cx="8341610" cy="3634800"/>
          </a:xfrm>
          <a:prstGeom prst="rect">
            <a:avLst/>
          </a:prstGeom>
          <a:noFill/>
          <a:ln>
            <a:noFill/>
          </a:ln>
        </p:spPr>
        <p:txBody>
          <a:bodyPr spcFirstLastPara="1" wrap="square" lIns="68575" tIns="34275" rIns="68575" bIns="34275" anchor="t" anchorCtr="0">
            <a:noAutofit/>
          </a:bodyPr>
          <a:lstStyle/>
          <a:p>
            <a:pPr marL="177800" lvl="0" indent="-177800" algn="l" rtl="0">
              <a:lnSpc>
                <a:spcPct val="115000"/>
              </a:lnSpc>
              <a:spcBef>
                <a:spcPts val="0"/>
              </a:spcBef>
              <a:spcAft>
                <a:spcPts val="0"/>
              </a:spcAft>
              <a:buSzPts val="1600"/>
              <a:buNone/>
            </a:pPr>
            <a:r>
              <a:rPr lang="en" sz="1200" b="1" dirty="0">
                <a:solidFill>
                  <a:srgbClr val="000000"/>
                </a:solidFill>
              </a:rPr>
              <a:t>Random Input to Generator</a:t>
            </a:r>
            <a:endParaRPr sz="1200" b="1" dirty="0">
              <a:solidFill>
                <a:srgbClr val="000000"/>
              </a:solidFill>
            </a:endParaRPr>
          </a:p>
          <a:p>
            <a:pPr marL="177800" lvl="0" indent="-177800" algn="just" rtl="0">
              <a:lnSpc>
                <a:spcPct val="115000"/>
              </a:lnSpc>
              <a:spcBef>
                <a:spcPts val="0"/>
              </a:spcBef>
              <a:spcAft>
                <a:spcPts val="0"/>
              </a:spcAft>
              <a:buSzPts val="1600"/>
              <a:buNone/>
            </a:pPr>
            <a:r>
              <a:rPr lang="en" sz="1200" dirty="0"/>
              <a:t>The process starts with random input like usually either noise (random numbers) or a partially masked image.</a:t>
            </a:r>
            <a:endParaRPr sz="1200" dirty="0"/>
          </a:p>
          <a:p>
            <a:pPr marL="177800" lvl="0" indent="-177800" algn="just" rtl="0">
              <a:lnSpc>
                <a:spcPct val="115000"/>
              </a:lnSpc>
              <a:spcBef>
                <a:spcPts val="0"/>
              </a:spcBef>
              <a:spcAft>
                <a:spcPts val="0"/>
              </a:spcAft>
              <a:buSzPts val="1600"/>
              <a:buNone/>
            </a:pPr>
            <a:r>
              <a:rPr lang="en" sz="1200" dirty="0"/>
              <a:t>This is fed into the </a:t>
            </a:r>
            <a:r>
              <a:rPr lang="en" sz="1200" b="1" dirty="0"/>
              <a:t>Generator</a:t>
            </a:r>
            <a:r>
              <a:rPr lang="en" sz="1200" dirty="0"/>
              <a:t>, which tries to create a full, realistic image from it.</a:t>
            </a:r>
            <a:endParaRPr sz="1200" dirty="0"/>
          </a:p>
          <a:p>
            <a:pPr marL="635000" lvl="1" indent="-177800" algn="just">
              <a:lnSpc>
                <a:spcPct val="115000"/>
              </a:lnSpc>
              <a:spcBef>
                <a:spcPts val="0"/>
              </a:spcBef>
              <a:buNone/>
            </a:pPr>
            <a:r>
              <a:rPr lang="en" sz="1200" b="1" dirty="0"/>
              <a:t>Generator Creates a Fake Image</a:t>
            </a:r>
            <a:endParaRPr sz="1200" b="1" dirty="0"/>
          </a:p>
          <a:p>
            <a:pPr marL="1092200" lvl="2" indent="-177800" algn="just">
              <a:lnSpc>
                <a:spcPct val="115000"/>
              </a:lnSpc>
              <a:spcBef>
                <a:spcPts val="0"/>
              </a:spcBef>
              <a:buNone/>
            </a:pPr>
            <a:r>
              <a:rPr lang="en" sz="1200" dirty="0"/>
              <a:t>The </a:t>
            </a:r>
            <a:r>
              <a:rPr lang="en" sz="1200" b="1" dirty="0"/>
              <a:t>Generator</a:t>
            </a:r>
            <a:r>
              <a:rPr lang="en" sz="1200" dirty="0"/>
              <a:t> is like an artist that’s learning to draw realistic faces. At first, the output is not very good, but With feedback, it keeps improving. It produces a fake image that tries to look like a real image from the training data.</a:t>
            </a:r>
            <a:endParaRPr sz="1200" dirty="0"/>
          </a:p>
          <a:p>
            <a:pPr marL="635000" lvl="1" indent="-177800" algn="just">
              <a:lnSpc>
                <a:spcPct val="115000"/>
              </a:lnSpc>
              <a:spcBef>
                <a:spcPts val="0"/>
              </a:spcBef>
              <a:buNone/>
            </a:pPr>
            <a:r>
              <a:rPr lang="en" sz="1200" b="1" dirty="0"/>
              <a:t>Discriminator Evaluates the Image</a:t>
            </a:r>
            <a:endParaRPr sz="1200" b="1" dirty="0"/>
          </a:p>
          <a:p>
            <a:pPr marL="1092200" lvl="2" indent="-177800" algn="just">
              <a:lnSpc>
                <a:spcPct val="115000"/>
              </a:lnSpc>
              <a:spcBef>
                <a:spcPts val="0"/>
              </a:spcBef>
              <a:buNone/>
            </a:pPr>
            <a:r>
              <a:rPr lang="en" sz="1200" dirty="0"/>
              <a:t>The </a:t>
            </a:r>
            <a:r>
              <a:rPr lang="en" sz="1200" b="1" dirty="0"/>
              <a:t>Discriminator</a:t>
            </a:r>
            <a:r>
              <a:rPr lang="en" sz="1200" dirty="0"/>
              <a:t> is like a judge. It looks at both real images (from the dataset) and fake images and tries</a:t>
            </a:r>
            <a:endParaRPr sz="1200" dirty="0"/>
          </a:p>
          <a:p>
            <a:pPr marL="1092200" lvl="2" indent="-177800" algn="just">
              <a:lnSpc>
                <a:spcPct val="115000"/>
              </a:lnSpc>
              <a:spcBef>
                <a:spcPts val="0"/>
              </a:spcBef>
              <a:buNone/>
            </a:pPr>
            <a:r>
              <a:rPr lang="en" sz="1200" dirty="0"/>
              <a:t>to classify them as “real” or “fake.”</a:t>
            </a:r>
            <a:endParaRPr sz="1200" dirty="0"/>
          </a:p>
          <a:p>
            <a:pPr lvl="2" algn="just">
              <a:lnSpc>
                <a:spcPct val="115000"/>
              </a:lnSpc>
              <a:spcBef>
                <a:spcPts val="0"/>
              </a:spcBef>
              <a:buChar char="•"/>
            </a:pPr>
            <a:r>
              <a:rPr lang="en" sz="1200" dirty="0"/>
              <a:t>If it identifies the fake correctly, it improves its judging skills.</a:t>
            </a:r>
            <a:endParaRPr sz="1200" dirty="0"/>
          </a:p>
          <a:p>
            <a:pPr lvl="2" algn="just">
              <a:lnSpc>
                <a:spcPct val="115000"/>
              </a:lnSpc>
              <a:spcBef>
                <a:spcPts val="0"/>
              </a:spcBef>
              <a:buChar char="•"/>
            </a:pPr>
            <a:r>
              <a:rPr lang="en" sz="1200" dirty="0"/>
              <a:t>If it is fooled by the Generator, it updates its parameters to become more accurate.</a:t>
            </a:r>
          </a:p>
          <a:p>
            <a:pPr marL="584200" lvl="1" indent="0" algn="just">
              <a:lnSpc>
                <a:spcPct val="115000"/>
              </a:lnSpc>
              <a:spcBef>
                <a:spcPts val="0"/>
              </a:spcBef>
              <a:buNone/>
            </a:pPr>
            <a:endParaRPr sz="1200" dirty="0"/>
          </a:p>
          <a:p>
            <a:pPr marL="0" lvl="0" indent="0" rtl="0">
              <a:lnSpc>
                <a:spcPct val="115000"/>
              </a:lnSpc>
              <a:spcBef>
                <a:spcPts val="0"/>
              </a:spcBef>
              <a:spcAft>
                <a:spcPts val="0"/>
              </a:spcAft>
              <a:buNone/>
            </a:pPr>
            <a:r>
              <a:rPr lang="en" sz="1200" b="1" dirty="0"/>
              <a:t>Feedback for Both Models</a:t>
            </a:r>
            <a:br>
              <a:rPr lang="en" sz="1200" b="1" dirty="0"/>
            </a:br>
            <a:r>
              <a:rPr lang="en" sz="1200" dirty="0"/>
              <a:t>Both models learn from this the Generator improves so it can better </a:t>
            </a:r>
            <a:r>
              <a:rPr lang="en" sz="1200" b="1" dirty="0"/>
              <a:t>fool</a:t>
            </a:r>
            <a:r>
              <a:rPr lang="en" sz="1200" dirty="0"/>
              <a:t> the Discriminator.</a:t>
            </a:r>
            <a:br>
              <a:rPr lang="en" sz="1200" dirty="0"/>
            </a:br>
            <a:r>
              <a:rPr lang="en" sz="1200" dirty="0"/>
              <a:t>The Discriminator improves so it can better </a:t>
            </a:r>
            <a:r>
              <a:rPr lang="en" sz="1200" b="1" dirty="0"/>
              <a:t>detect fakes</a:t>
            </a:r>
            <a:r>
              <a:rPr lang="en" sz="1200" dirty="0"/>
              <a:t>.</a:t>
            </a:r>
            <a:endParaRPr sz="1200" b="1" dirty="0"/>
          </a:p>
        </p:txBody>
      </p:sp>
      <p:sp>
        <p:nvSpPr>
          <p:cNvPr id="149" name="Google Shape;149;p31"/>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2"/>
          <p:cNvSpPr txBox="1">
            <a:spLocks noGrp="1"/>
          </p:cNvSpPr>
          <p:nvPr>
            <p:ph type="title"/>
          </p:nvPr>
        </p:nvSpPr>
        <p:spPr>
          <a:xfrm>
            <a:off x="377190" y="838937"/>
            <a:ext cx="5945400" cy="401700"/>
          </a:xfrm>
          <a:prstGeom prst="rect">
            <a:avLst/>
          </a:prstGeom>
          <a:noFill/>
          <a:ln>
            <a:noFill/>
          </a:ln>
        </p:spPr>
        <p:txBody>
          <a:bodyPr spcFirstLastPara="1" wrap="square" lIns="68575" tIns="34275" rIns="68575" bIns="34275" anchor="b" anchorCtr="0">
            <a:spAutoFit/>
          </a:bodyPr>
          <a:lstStyle/>
          <a:p>
            <a:pPr marL="0" lvl="0" indent="0" algn="l" rtl="0">
              <a:lnSpc>
                <a:spcPct val="90000"/>
              </a:lnSpc>
              <a:spcBef>
                <a:spcPts val="0"/>
              </a:spcBef>
              <a:spcAft>
                <a:spcPts val="0"/>
              </a:spcAft>
              <a:buClr>
                <a:schemeClr val="dk2"/>
              </a:buClr>
              <a:buSzPts val="2700"/>
              <a:buFont typeface="Georgia"/>
              <a:buNone/>
            </a:pPr>
            <a:r>
              <a:rPr lang="en" sz="2400" b="1" dirty="0"/>
              <a:t>Method</a:t>
            </a:r>
            <a:endParaRPr sz="2400" b="1" dirty="0"/>
          </a:p>
        </p:txBody>
      </p:sp>
      <p:sp>
        <p:nvSpPr>
          <p:cNvPr id="155" name="Google Shape;155;p32"/>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156" name="Google Shape;156;p32"/>
          <p:cNvSpPr txBox="1">
            <a:spLocks noGrp="1"/>
          </p:cNvSpPr>
          <p:nvPr>
            <p:ph type="body" idx="1"/>
          </p:nvPr>
        </p:nvSpPr>
        <p:spPr>
          <a:xfrm>
            <a:off x="377190" y="1331579"/>
            <a:ext cx="8652300" cy="3537406"/>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500"/>
              </a:spcBef>
              <a:spcAft>
                <a:spcPts val="0"/>
              </a:spcAft>
              <a:buNone/>
            </a:pPr>
            <a:r>
              <a:rPr lang="en" sz="1100" dirty="0"/>
              <a:t>We implemented and compared three different GAN-based architectures for image inpainting:</a:t>
            </a:r>
            <a:endParaRPr sz="1100" dirty="0"/>
          </a:p>
          <a:p>
            <a:pPr marL="0" lvl="0" indent="0" algn="l" rtl="0">
              <a:lnSpc>
                <a:spcPct val="115000"/>
              </a:lnSpc>
              <a:spcBef>
                <a:spcPts val="1200"/>
              </a:spcBef>
              <a:spcAft>
                <a:spcPts val="0"/>
              </a:spcAft>
              <a:buNone/>
            </a:pPr>
            <a:r>
              <a:rPr lang="en" sz="1100" b="1" dirty="0">
                <a:solidFill>
                  <a:srgbClr val="000000"/>
                </a:solidFill>
              </a:rPr>
              <a:t>DCGAN-Based Generator with Mask-Augmentation</a:t>
            </a:r>
            <a:endParaRPr sz="1100" b="1" dirty="0">
              <a:solidFill>
                <a:srgbClr val="000000"/>
              </a:solidFill>
            </a:endParaRPr>
          </a:p>
          <a:p>
            <a:pPr marL="457200" lvl="0" indent="-298450" algn="l" rtl="0">
              <a:lnSpc>
                <a:spcPct val="115000"/>
              </a:lnSpc>
              <a:spcBef>
                <a:spcPts val="1200"/>
              </a:spcBef>
              <a:spcAft>
                <a:spcPts val="0"/>
              </a:spcAft>
              <a:buClr>
                <a:srgbClr val="000000"/>
              </a:buClr>
              <a:buSzPts val="1100"/>
              <a:buChar char="●"/>
            </a:pPr>
            <a:r>
              <a:rPr lang="en" sz="1100" dirty="0">
                <a:solidFill>
                  <a:srgbClr val="000000"/>
                </a:solidFill>
              </a:rPr>
              <a:t>Uses a </a:t>
            </a:r>
            <a:r>
              <a:rPr lang="en" sz="1100" b="1" dirty="0">
                <a:solidFill>
                  <a:srgbClr val="000000"/>
                </a:solidFill>
              </a:rPr>
              <a:t>custom encoder-decoder structure</a:t>
            </a:r>
            <a:r>
              <a:rPr lang="en" sz="1100" dirty="0">
                <a:solidFill>
                  <a:srgbClr val="000000"/>
                </a:solidFill>
              </a:rPr>
              <a:t> improved by explicit </a:t>
            </a:r>
            <a:r>
              <a:rPr lang="en" sz="1100" b="1" dirty="0">
                <a:solidFill>
                  <a:srgbClr val="000000"/>
                </a:solidFill>
              </a:rPr>
              <a:t>mask processing</a:t>
            </a:r>
            <a:r>
              <a:rPr lang="en" sz="1100" dirty="0">
                <a:solidFill>
                  <a:srgbClr val="000000"/>
                </a:solidFill>
              </a:rPr>
              <a:t> to guide inpainting.</a:t>
            </a:r>
            <a:br>
              <a:rPr lang="en" sz="1100" dirty="0">
                <a:solidFill>
                  <a:srgbClr val="000000"/>
                </a:solidFill>
              </a:rPr>
            </a:br>
            <a:endParaRPr sz="1100" dirty="0">
              <a:solidFill>
                <a:srgbClr val="000000"/>
              </a:solidFill>
            </a:endParaRPr>
          </a:p>
          <a:p>
            <a:pPr marL="457200" lvl="0" indent="-298450" algn="l" rtl="0">
              <a:lnSpc>
                <a:spcPct val="115000"/>
              </a:lnSpc>
              <a:spcBef>
                <a:spcPts val="0"/>
              </a:spcBef>
              <a:spcAft>
                <a:spcPts val="0"/>
              </a:spcAft>
              <a:buClr>
                <a:srgbClr val="000000"/>
              </a:buClr>
              <a:buSzPts val="1100"/>
              <a:buChar char="●"/>
            </a:pPr>
            <a:r>
              <a:rPr lang="en" sz="1100" dirty="0">
                <a:solidFill>
                  <a:srgbClr val="000000"/>
                </a:solidFill>
              </a:rPr>
              <a:t>Mask and image features are encoded separately and fused before decoding.</a:t>
            </a:r>
            <a:br>
              <a:rPr lang="en" sz="1100" dirty="0">
                <a:solidFill>
                  <a:srgbClr val="000000"/>
                </a:solidFill>
              </a:rPr>
            </a:br>
            <a:endParaRPr sz="1100" dirty="0">
              <a:solidFill>
                <a:srgbClr val="000000"/>
              </a:solidFill>
            </a:endParaRPr>
          </a:p>
          <a:p>
            <a:pPr marL="457200" lvl="0" indent="-298450" algn="l" rtl="0">
              <a:lnSpc>
                <a:spcPct val="115000"/>
              </a:lnSpc>
              <a:spcBef>
                <a:spcPts val="0"/>
              </a:spcBef>
              <a:spcAft>
                <a:spcPts val="0"/>
              </a:spcAft>
              <a:buClr>
                <a:srgbClr val="000000"/>
              </a:buClr>
              <a:buSzPts val="1100"/>
              <a:buChar char="●"/>
            </a:pPr>
            <a:r>
              <a:rPr lang="en" sz="1100" dirty="0">
                <a:solidFill>
                  <a:srgbClr val="000000"/>
                </a:solidFill>
              </a:rPr>
              <a:t>Losses: Binary Cross-Entropy (BCE) for adversarial loss + L1 pixel loss.</a:t>
            </a:r>
            <a:endParaRPr sz="1100" dirty="0">
              <a:solidFill>
                <a:srgbClr val="000000"/>
              </a:solidFill>
            </a:endParaRPr>
          </a:p>
          <a:p>
            <a:pPr marL="0" lvl="0" indent="0" algn="l" rtl="0">
              <a:lnSpc>
                <a:spcPct val="115000"/>
              </a:lnSpc>
              <a:spcBef>
                <a:spcPts val="1200"/>
              </a:spcBef>
              <a:spcAft>
                <a:spcPts val="0"/>
              </a:spcAft>
              <a:buNone/>
            </a:pPr>
            <a:r>
              <a:rPr lang="en" sz="1100" b="1" dirty="0">
                <a:solidFill>
                  <a:srgbClr val="000000"/>
                </a:solidFill>
              </a:rPr>
              <a:t>BigGAN-Inspired Residual Generator with Attention</a:t>
            </a:r>
            <a:endParaRPr sz="1100" b="1" dirty="0">
              <a:solidFill>
                <a:srgbClr val="000000"/>
              </a:solidFill>
            </a:endParaRPr>
          </a:p>
          <a:p>
            <a:pPr marL="457200" lvl="0" indent="-298450" algn="l" rtl="0">
              <a:lnSpc>
                <a:spcPct val="115000"/>
              </a:lnSpc>
              <a:spcBef>
                <a:spcPts val="1200"/>
              </a:spcBef>
              <a:spcAft>
                <a:spcPts val="0"/>
              </a:spcAft>
              <a:buClr>
                <a:srgbClr val="000000"/>
              </a:buClr>
              <a:buSzPts val="1100"/>
              <a:buChar char="●"/>
            </a:pPr>
            <a:r>
              <a:rPr lang="en" sz="1100" dirty="0">
                <a:solidFill>
                  <a:srgbClr val="000000"/>
                </a:solidFill>
              </a:rPr>
              <a:t>Employs a deeper encoder-decoder network with </a:t>
            </a:r>
            <a:r>
              <a:rPr lang="en" sz="1100" b="1" dirty="0">
                <a:solidFill>
                  <a:srgbClr val="000000"/>
                </a:solidFill>
              </a:rPr>
              <a:t>residual blocks and attention layers</a:t>
            </a:r>
            <a:r>
              <a:rPr lang="en" sz="1100" dirty="0">
                <a:solidFill>
                  <a:srgbClr val="000000"/>
                </a:solidFill>
              </a:rPr>
              <a:t> to retain global and local features.</a:t>
            </a:r>
            <a:br>
              <a:rPr lang="en" sz="1100" dirty="0">
                <a:solidFill>
                  <a:srgbClr val="000000"/>
                </a:solidFill>
              </a:rPr>
            </a:br>
            <a:endParaRPr sz="1100" dirty="0">
              <a:solidFill>
                <a:srgbClr val="000000"/>
              </a:solidFill>
            </a:endParaRPr>
          </a:p>
          <a:p>
            <a:pPr marL="457200" lvl="0" indent="-298450" algn="l" rtl="0">
              <a:lnSpc>
                <a:spcPct val="115000"/>
              </a:lnSpc>
              <a:spcBef>
                <a:spcPts val="0"/>
              </a:spcBef>
              <a:spcAft>
                <a:spcPts val="0"/>
              </a:spcAft>
              <a:buClr>
                <a:srgbClr val="000000"/>
              </a:buClr>
              <a:buSzPts val="1100"/>
              <a:buChar char="●"/>
            </a:pPr>
            <a:r>
              <a:rPr lang="en" sz="1100" dirty="0">
                <a:solidFill>
                  <a:srgbClr val="000000"/>
                </a:solidFill>
              </a:rPr>
              <a:t>Aims to improve semantic consistency in large masked regions.</a:t>
            </a:r>
            <a:br>
              <a:rPr lang="en" sz="1100" dirty="0">
                <a:solidFill>
                  <a:srgbClr val="000000"/>
                </a:solidFill>
              </a:rPr>
            </a:br>
            <a:endParaRPr sz="1100" dirty="0">
              <a:solidFill>
                <a:srgbClr val="000000"/>
              </a:solidFill>
            </a:endParaRPr>
          </a:p>
          <a:p>
            <a:pPr marL="457200" lvl="0" indent="-298450" algn="l" rtl="0">
              <a:lnSpc>
                <a:spcPct val="115000"/>
              </a:lnSpc>
              <a:spcBef>
                <a:spcPts val="0"/>
              </a:spcBef>
              <a:spcAft>
                <a:spcPts val="0"/>
              </a:spcAft>
              <a:buClr>
                <a:srgbClr val="000000"/>
              </a:buClr>
              <a:buSzPts val="1100"/>
              <a:buChar char="●"/>
            </a:pPr>
            <a:r>
              <a:rPr lang="en" sz="1100" dirty="0">
                <a:solidFill>
                  <a:srgbClr val="000000"/>
                </a:solidFill>
              </a:rPr>
              <a:t>Uses PatchGAN-style discriminator with </a:t>
            </a:r>
            <a:r>
              <a:rPr lang="en" sz="1100" b="1" dirty="0">
                <a:solidFill>
                  <a:srgbClr val="000000"/>
                </a:solidFill>
              </a:rPr>
              <a:t>residual attention</a:t>
            </a:r>
            <a:r>
              <a:rPr lang="en" sz="1100" dirty="0">
                <a:solidFill>
                  <a:srgbClr val="000000"/>
                </a:solidFill>
              </a:rPr>
              <a:t> for realism.</a:t>
            </a:r>
            <a:endParaRPr sz="1100" dirty="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3"/>
          <p:cNvSpPr txBox="1">
            <a:spLocks noGrp="1"/>
          </p:cNvSpPr>
          <p:nvPr>
            <p:ph type="title"/>
          </p:nvPr>
        </p:nvSpPr>
        <p:spPr>
          <a:xfrm>
            <a:off x="425200" y="905771"/>
            <a:ext cx="5945400" cy="401700"/>
          </a:xfrm>
          <a:prstGeom prst="rect">
            <a:avLst/>
          </a:prstGeom>
          <a:noFill/>
          <a:ln>
            <a:noFill/>
          </a:ln>
        </p:spPr>
        <p:txBody>
          <a:bodyPr spcFirstLastPara="1" wrap="square" lIns="68575" tIns="34275" rIns="68575" bIns="34275" anchor="b" anchorCtr="0">
            <a:spAutoFit/>
          </a:bodyPr>
          <a:lstStyle/>
          <a:p>
            <a:pPr marL="0" lvl="0" indent="0" algn="l" rtl="0">
              <a:lnSpc>
                <a:spcPct val="90000"/>
              </a:lnSpc>
              <a:spcBef>
                <a:spcPts val="0"/>
              </a:spcBef>
              <a:spcAft>
                <a:spcPts val="0"/>
              </a:spcAft>
              <a:buClr>
                <a:schemeClr val="dk2"/>
              </a:buClr>
              <a:buSzPts val="2700"/>
              <a:buFont typeface="Georgia"/>
              <a:buNone/>
            </a:pPr>
            <a:r>
              <a:rPr lang="en" sz="2400" b="1" dirty="0"/>
              <a:t>Method</a:t>
            </a:r>
            <a:endParaRPr sz="2400" b="1" dirty="0"/>
          </a:p>
        </p:txBody>
      </p:sp>
      <p:sp>
        <p:nvSpPr>
          <p:cNvPr id="162" name="Google Shape;162;p33"/>
          <p:cNvSpPr txBox="1">
            <a:spLocks noGrp="1"/>
          </p:cNvSpPr>
          <p:nvPr>
            <p:ph type="body" idx="1"/>
          </p:nvPr>
        </p:nvSpPr>
        <p:spPr>
          <a:xfrm>
            <a:off x="425200" y="1495331"/>
            <a:ext cx="7911600" cy="32445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1200"/>
              </a:spcBef>
              <a:spcAft>
                <a:spcPts val="0"/>
              </a:spcAft>
              <a:buNone/>
            </a:pPr>
            <a:r>
              <a:rPr lang="en" sz="1100" b="1" dirty="0">
                <a:solidFill>
                  <a:srgbClr val="000000"/>
                </a:solidFill>
              </a:rPr>
              <a:t>Transformer-GAN Hybrid with Perceptual Loss</a:t>
            </a:r>
            <a:endParaRPr sz="1100" b="1" dirty="0">
              <a:solidFill>
                <a:srgbClr val="000000"/>
              </a:solidFill>
            </a:endParaRPr>
          </a:p>
          <a:p>
            <a:pPr marL="457200" lvl="0" indent="-298450" algn="l" rtl="0">
              <a:lnSpc>
                <a:spcPct val="115000"/>
              </a:lnSpc>
              <a:spcBef>
                <a:spcPts val="1200"/>
              </a:spcBef>
              <a:spcAft>
                <a:spcPts val="0"/>
              </a:spcAft>
              <a:buClr>
                <a:srgbClr val="000000"/>
              </a:buClr>
              <a:buSzPts val="1100"/>
              <a:buChar char="●"/>
            </a:pPr>
            <a:r>
              <a:rPr lang="en" sz="1100" dirty="0">
                <a:solidFill>
                  <a:srgbClr val="000000"/>
                </a:solidFill>
              </a:rPr>
              <a:t>Builds on a U-Net backbone with </a:t>
            </a:r>
            <a:r>
              <a:rPr lang="en" sz="1100" b="1" dirty="0">
                <a:solidFill>
                  <a:srgbClr val="000000"/>
                </a:solidFill>
              </a:rPr>
              <a:t>residual blocks</a:t>
            </a:r>
            <a:r>
              <a:rPr lang="en" sz="1100" dirty="0">
                <a:solidFill>
                  <a:srgbClr val="000000"/>
                </a:solidFill>
              </a:rPr>
              <a:t> and a </a:t>
            </a:r>
            <a:r>
              <a:rPr lang="en" sz="1100" b="1" dirty="0">
                <a:solidFill>
                  <a:srgbClr val="000000"/>
                </a:solidFill>
              </a:rPr>
              <a:t>PatchGAN discriminator</a:t>
            </a:r>
            <a:r>
              <a:rPr lang="en" sz="1100" dirty="0">
                <a:solidFill>
                  <a:srgbClr val="000000"/>
                </a:solidFill>
              </a:rPr>
              <a:t>.</a:t>
            </a:r>
            <a:br>
              <a:rPr lang="en" sz="1100" dirty="0">
                <a:solidFill>
                  <a:srgbClr val="000000"/>
                </a:solidFill>
              </a:rPr>
            </a:br>
            <a:endParaRPr sz="1100" dirty="0">
              <a:solidFill>
                <a:srgbClr val="000000"/>
              </a:solidFill>
            </a:endParaRPr>
          </a:p>
          <a:p>
            <a:pPr marL="457200" lvl="0" indent="-298450" algn="l" rtl="0">
              <a:lnSpc>
                <a:spcPct val="115000"/>
              </a:lnSpc>
              <a:spcBef>
                <a:spcPts val="0"/>
              </a:spcBef>
              <a:spcAft>
                <a:spcPts val="0"/>
              </a:spcAft>
              <a:buClr>
                <a:srgbClr val="000000"/>
              </a:buClr>
              <a:buSzPts val="1100"/>
              <a:buChar char="●"/>
            </a:pPr>
            <a:r>
              <a:rPr lang="en" sz="1100" dirty="0">
                <a:solidFill>
                  <a:srgbClr val="000000"/>
                </a:solidFill>
              </a:rPr>
              <a:t>Optimized using a combination of:</a:t>
            </a:r>
            <a:br>
              <a:rPr lang="en" sz="1100" dirty="0">
                <a:solidFill>
                  <a:srgbClr val="000000"/>
                </a:solidFill>
              </a:rPr>
            </a:br>
            <a:endParaRPr sz="1100" dirty="0">
              <a:solidFill>
                <a:srgbClr val="000000"/>
              </a:solidFill>
            </a:endParaRPr>
          </a:p>
          <a:p>
            <a:pPr marL="914400" lvl="1" indent="-298450" algn="l" rtl="0">
              <a:lnSpc>
                <a:spcPct val="115000"/>
              </a:lnSpc>
              <a:spcBef>
                <a:spcPts val="0"/>
              </a:spcBef>
              <a:spcAft>
                <a:spcPts val="0"/>
              </a:spcAft>
              <a:buClr>
                <a:srgbClr val="000000"/>
              </a:buClr>
              <a:buSzPts val="1100"/>
              <a:buFont typeface="Arial"/>
              <a:buChar char="○"/>
            </a:pPr>
            <a:r>
              <a:rPr lang="en" sz="1100" b="1" dirty="0">
                <a:solidFill>
                  <a:srgbClr val="000000"/>
                </a:solidFill>
              </a:rPr>
              <a:t>Adversarial loss</a:t>
            </a:r>
            <a:r>
              <a:rPr lang="en" sz="1100" dirty="0">
                <a:solidFill>
                  <a:srgbClr val="000000"/>
                </a:solidFill>
              </a:rPr>
              <a:t> (BCE),</a:t>
            </a:r>
            <a:br>
              <a:rPr lang="en" sz="1100" dirty="0">
                <a:solidFill>
                  <a:srgbClr val="000000"/>
                </a:solidFill>
              </a:rPr>
            </a:br>
            <a:endParaRPr sz="1100" dirty="0">
              <a:solidFill>
                <a:srgbClr val="000000"/>
              </a:solidFill>
            </a:endParaRPr>
          </a:p>
          <a:p>
            <a:pPr marL="914400" lvl="1" indent="-298450" algn="l" rtl="0">
              <a:lnSpc>
                <a:spcPct val="115000"/>
              </a:lnSpc>
              <a:spcBef>
                <a:spcPts val="0"/>
              </a:spcBef>
              <a:spcAft>
                <a:spcPts val="0"/>
              </a:spcAft>
              <a:buClr>
                <a:srgbClr val="000000"/>
              </a:buClr>
              <a:buSzPts val="1100"/>
              <a:buFont typeface="Arial"/>
              <a:buChar char="○"/>
            </a:pPr>
            <a:r>
              <a:rPr lang="en" sz="1100" b="1" dirty="0">
                <a:solidFill>
                  <a:srgbClr val="000000"/>
                </a:solidFill>
              </a:rPr>
              <a:t>L1 loss</a:t>
            </a:r>
            <a:r>
              <a:rPr lang="en" sz="1100" dirty="0">
                <a:solidFill>
                  <a:srgbClr val="000000"/>
                </a:solidFill>
              </a:rPr>
              <a:t> for reconstruction,</a:t>
            </a:r>
            <a:br>
              <a:rPr lang="en" sz="1100" dirty="0">
                <a:solidFill>
                  <a:srgbClr val="000000"/>
                </a:solidFill>
              </a:rPr>
            </a:br>
            <a:endParaRPr sz="1100" dirty="0">
              <a:solidFill>
                <a:srgbClr val="000000"/>
              </a:solidFill>
            </a:endParaRPr>
          </a:p>
          <a:p>
            <a:pPr marL="914400" lvl="1" indent="-298450" algn="l" rtl="0">
              <a:lnSpc>
                <a:spcPct val="115000"/>
              </a:lnSpc>
              <a:spcBef>
                <a:spcPts val="0"/>
              </a:spcBef>
              <a:spcAft>
                <a:spcPts val="0"/>
              </a:spcAft>
              <a:buClr>
                <a:srgbClr val="000000"/>
              </a:buClr>
              <a:buSzPts val="1100"/>
              <a:buFont typeface="Arial"/>
              <a:buChar char="○"/>
            </a:pPr>
            <a:r>
              <a:rPr lang="en" sz="1100" b="1" dirty="0">
                <a:solidFill>
                  <a:srgbClr val="000000"/>
                </a:solidFill>
              </a:rPr>
              <a:t>Perceptual loss</a:t>
            </a:r>
            <a:r>
              <a:rPr lang="en" sz="1100" dirty="0">
                <a:solidFill>
                  <a:srgbClr val="000000"/>
                </a:solidFill>
              </a:rPr>
              <a:t> (VGG features),</a:t>
            </a:r>
            <a:br>
              <a:rPr lang="en" sz="1100" dirty="0">
                <a:solidFill>
                  <a:srgbClr val="000000"/>
                </a:solidFill>
              </a:rPr>
            </a:br>
            <a:endParaRPr sz="1100" dirty="0">
              <a:solidFill>
                <a:srgbClr val="000000"/>
              </a:solidFill>
            </a:endParaRPr>
          </a:p>
          <a:p>
            <a:pPr marL="914400" lvl="1" indent="-298450" algn="l" rtl="0">
              <a:lnSpc>
                <a:spcPct val="115000"/>
              </a:lnSpc>
              <a:spcBef>
                <a:spcPts val="0"/>
              </a:spcBef>
              <a:spcAft>
                <a:spcPts val="0"/>
              </a:spcAft>
              <a:buClr>
                <a:srgbClr val="000000"/>
              </a:buClr>
              <a:buSzPts val="1100"/>
              <a:buFont typeface="Arial"/>
              <a:buChar char="○"/>
            </a:pPr>
            <a:r>
              <a:rPr lang="en" sz="1100" b="1" dirty="0">
                <a:solidFill>
                  <a:srgbClr val="000000"/>
                </a:solidFill>
              </a:rPr>
              <a:t>SSIM loss</a:t>
            </a:r>
            <a:r>
              <a:rPr lang="en" sz="1100" dirty="0">
                <a:solidFill>
                  <a:srgbClr val="000000"/>
                </a:solidFill>
              </a:rPr>
              <a:t> for structural similarity.</a:t>
            </a:r>
            <a:br>
              <a:rPr lang="en" sz="1100" dirty="0">
                <a:solidFill>
                  <a:srgbClr val="000000"/>
                </a:solidFill>
              </a:rPr>
            </a:br>
            <a:endParaRPr sz="1100" dirty="0">
              <a:solidFill>
                <a:srgbClr val="000000"/>
              </a:solidFill>
            </a:endParaRPr>
          </a:p>
          <a:p>
            <a:pPr marL="457200" lvl="0" indent="-298450" algn="l" rtl="0">
              <a:lnSpc>
                <a:spcPct val="115000"/>
              </a:lnSpc>
              <a:spcBef>
                <a:spcPts val="0"/>
              </a:spcBef>
              <a:spcAft>
                <a:spcPts val="0"/>
              </a:spcAft>
              <a:buClr>
                <a:srgbClr val="000000"/>
              </a:buClr>
              <a:buSzPts val="1100"/>
              <a:buChar char="●"/>
            </a:pPr>
            <a:r>
              <a:rPr lang="en" sz="1100" dirty="0">
                <a:solidFill>
                  <a:srgbClr val="000000"/>
                </a:solidFill>
              </a:rPr>
              <a:t>Focuses on improving </a:t>
            </a:r>
            <a:r>
              <a:rPr lang="en" sz="1100" b="1" dirty="0">
                <a:solidFill>
                  <a:srgbClr val="000000"/>
                </a:solidFill>
              </a:rPr>
              <a:t>texture realism</a:t>
            </a:r>
            <a:r>
              <a:rPr lang="en" sz="1100" dirty="0">
                <a:solidFill>
                  <a:srgbClr val="000000"/>
                </a:solidFill>
              </a:rPr>
              <a:t> and </a:t>
            </a:r>
            <a:r>
              <a:rPr lang="en" sz="1100" b="1" dirty="0">
                <a:solidFill>
                  <a:srgbClr val="000000"/>
                </a:solidFill>
              </a:rPr>
              <a:t>structural integrity</a:t>
            </a:r>
            <a:r>
              <a:rPr lang="en" sz="1100" dirty="0">
                <a:solidFill>
                  <a:srgbClr val="000000"/>
                </a:solidFill>
              </a:rPr>
              <a:t>.</a:t>
            </a:r>
            <a:endParaRPr sz="1100" dirty="0">
              <a:solidFill>
                <a:srgbClr val="000000"/>
              </a:solidFill>
            </a:endParaRPr>
          </a:p>
          <a:p>
            <a:pPr marL="0" lvl="0" indent="0" algn="l" rtl="0">
              <a:spcBef>
                <a:spcPts val="1200"/>
              </a:spcBef>
              <a:spcAft>
                <a:spcPts val="0"/>
              </a:spcAft>
              <a:buNone/>
            </a:pPr>
            <a:endParaRPr sz="1200" b="1" dirty="0"/>
          </a:p>
        </p:txBody>
      </p:sp>
      <p:sp>
        <p:nvSpPr>
          <p:cNvPr id="163" name="Google Shape;163;p33"/>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4"/>
          <p:cNvSpPr txBox="1">
            <a:spLocks noGrp="1"/>
          </p:cNvSpPr>
          <p:nvPr>
            <p:ph type="title"/>
          </p:nvPr>
        </p:nvSpPr>
        <p:spPr>
          <a:xfrm>
            <a:off x="425196" y="687262"/>
            <a:ext cx="1450496" cy="401700"/>
          </a:xfrm>
          <a:prstGeom prst="rect">
            <a:avLst/>
          </a:prstGeom>
          <a:noFill/>
          <a:ln>
            <a:noFill/>
          </a:ln>
        </p:spPr>
        <p:txBody>
          <a:bodyPr spcFirstLastPara="1" wrap="square" lIns="68575" tIns="34275" rIns="68575" bIns="34275" anchor="b" anchorCtr="0">
            <a:spAutoFit/>
          </a:bodyPr>
          <a:lstStyle/>
          <a:p>
            <a:pPr marL="0" lvl="0" indent="0" algn="l" rtl="0">
              <a:lnSpc>
                <a:spcPct val="90000"/>
              </a:lnSpc>
              <a:spcBef>
                <a:spcPts val="0"/>
              </a:spcBef>
              <a:spcAft>
                <a:spcPts val="0"/>
              </a:spcAft>
              <a:buClr>
                <a:schemeClr val="dk2"/>
              </a:buClr>
              <a:buSzPts val="2700"/>
              <a:buFont typeface="Georgia"/>
              <a:buNone/>
            </a:pPr>
            <a:r>
              <a:rPr lang="en" sz="2400" b="1" dirty="0"/>
              <a:t>Results</a:t>
            </a:r>
            <a:endParaRPr sz="2400" b="1" dirty="0"/>
          </a:p>
        </p:txBody>
      </p:sp>
      <p:sp>
        <p:nvSpPr>
          <p:cNvPr id="169" name="Google Shape;169;p34"/>
          <p:cNvSpPr txBox="1">
            <a:spLocks noGrp="1"/>
          </p:cNvSpPr>
          <p:nvPr>
            <p:ph type="body" idx="1"/>
          </p:nvPr>
        </p:nvSpPr>
        <p:spPr>
          <a:xfrm>
            <a:off x="425200" y="1083600"/>
            <a:ext cx="8535000" cy="40053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1200"/>
              </a:spcBef>
              <a:spcAft>
                <a:spcPts val="0"/>
              </a:spcAft>
              <a:buNone/>
            </a:pPr>
            <a:endParaRPr sz="1200" dirty="0"/>
          </a:p>
          <a:p>
            <a:pPr marL="0" lvl="0" indent="0" algn="l" rtl="0">
              <a:lnSpc>
                <a:spcPct val="115000"/>
              </a:lnSpc>
              <a:spcBef>
                <a:spcPts val="1200"/>
              </a:spcBef>
              <a:spcAft>
                <a:spcPts val="0"/>
              </a:spcAft>
              <a:buNone/>
            </a:pPr>
            <a:endParaRPr sz="1200" b="1" dirty="0"/>
          </a:p>
          <a:p>
            <a:pPr marL="0" lvl="0" indent="0" algn="l" rtl="0">
              <a:lnSpc>
                <a:spcPct val="115000"/>
              </a:lnSpc>
              <a:spcBef>
                <a:spcPts val="0"/>
              </a:spcBef>
              <a:spcAft>
                <a:spcPts val="0"/>
              </a:spcAft>
              <a:buNone/>
            </a:pPr>
            <a:endParaRPr sz="1200" b="1" dirty="0"/>
          </a:p>
          <a:p>
            <a:pPr marL="0" lvl="0" indent="0" algn="l" rtl="0">
              <a:lnSpc>
                <a:spcPct val="115000"/>
              </a:lnSpc>
              <a:spcBef>
                <a:spcPts val="0"/>
              </a:spcBef>
              <a:spcAft>
                <a:spcPts val="0"/>
              </a:spcAft>
              <a:buNone/>
            </a:pPr>
            <a:endParaRPr sz="1200" b="1" dirty="0"/>
          </a:p>
          <a:p>
            <a:pPr marL="0" lvl="0" indent="0" algn="l" rtl="0">
              <a:lnSpc>
                <a:spcPct val="115000"/>
              </a:lnSpc>
              <a:spcBef>
                <a:spcPts val="0"/>
              </a:spcBef>
              <a:spcAft>
                <a:spcPts val="0"/>
              </a:spcAft>
              <a:buNone/>
            </a:pPr>
            <a:endParaRPr sz="1200" b="1" dirty="0"/>
          </a:p>
          <a:p>
            <a:pPr marL="0" lvl="0" indent="0" algn="l" rtl="0">
              <a:lnSpc>
                <a:spcPct val="115000"/>
              </a:lnSpc>
              <a:spcBef>
                <a:spcPts val="0"/>
              </a:spcBef>
              <a:spcAft>
                <a:spcPts val="0"/>
              </a:spcAft>
              <a:buNone/>
            </a:pPr>
            <a:endParaRPr sz="1200" b="1" dirty="0"/>
          </a:p>
          <a:p>
            <a:pPr marL="0" lvl="0" indent="0" algn="l" rtl="0">
              <a:lnSpc>
                <a:spcPct val="115000"/>
              </a:lnSpc>
              <a:spcBef>
                <a:spcPts val="0"/>
              </a:spcBef>
              <a:spcAft>
                <a:spcPts val="0"/>
              </a:spcAft>
              <a:buNone/>
            </a:pPr>
            <a:endParaRPr sz="1200" b="1" dirty="0"/>
          </a:p>
          <a:p>
            <a:pPr marL="0" lvl="0" indent="0" algn="l" rtl="0">
              <a:lnSpc>
                <a:spcPct val="115000"/>
              </a:lnSpc>
              <a:spcBef>
                <a:spcPts val="0"/>
              </a:spcBef>
              <a:spcAft>
                <a:spcPts val="0"/>
              </a:spcAft>
              <a:buNone/>
            </a:pPr>
            <a:endParaRPr sz="1200" b="1" dirty="0"/>
          </a:p>
          <a:p>
            <a:pPr marL="0" lvl="0" indent="0" algn="l" rtl="0">
              <a:lnSpc>
                <a:spcPct val="115000"/>
              </a:lnSpc>
              <a:spcBef>
                <a:spcPts val="0"/>
              </a:spcBef>
              <a:spcAft>
                <a:spcPts val="0"/>
              </a:spcAft>
              <a:buNone/>
            </a:pPr>
            <a:endParaRPr sz="1200" b="1" dirty="0"/>
          </a:p>
          <a:p>
            <a:pPr marL="0" lvl="0" indent="0" algn="l" rtl="0">
              <a:lnSpc>
                <a:spcPct val="115000"/>
              </a:lnSpc>
              <a:spcBef>
                <a:spcPts val="0"/>
              </a:spcBef>
              <a:spcAft>
                <a:spcPts val="0"/>
              </a:spcAft>
              <a:buNone/>
            </a:pPr>
            <a:r>
              <a:rPr lang="en" sz="1300" dirty="0"/>
              <a:t>The L1 Loss distribution shows that the majority of inpainted images have very low pixel-wise error, with most values clustered around 0.025 to 0.035. This suggests that the generator is accurately restoring missing regions. </a:t>
            </a:r>
          </a:p>
          <a:p>
            <a:pPr marL="0" lvl="0" indent="0" algn="l" rtl="0">
              <a:lnSpc>
                <a:spcPct val="115000"/>
              </a:lnSpc>
              <a:spcBef>
                <a:spcPts val="0"/>
              </a:spcBef>
              <a:spcAft>
                <a:spcPts val="0"/>
              </a:spcAft>
              <a:buNone/>
            </a:pPr>
            <a:r>
              <a:rPr lang="en" sz="1300" dirty="0"/>
              <a:t>The PSNR distribution peaks around 26 dB, which indicates that the reconstructed images maintain good overall fidelity and clarity compared to the originals. </a:t>
            </a:r>
          </a:p>
          <a:p>
            <a:pPr marL="0" lvl="0" indent="0" algn="l" rtl="0">
              <a:lnSpc>
                <a:spcPct val="115000"/>
              </a:lnSpc>
              <a:spcBef>
                <a:spcPts val="0"/>
              </a:spcBef>
              <a:spcAft>
                <a:spcPts val="0"/>
              </a:spcAft>
              <a:buNone/>
            </a:pPr>
            <a:r>
              <a:rPr lang="en" sz="1300" dirty="0"/>
              <a:t>The SSIM distribution is skewed toward higher values (mostly above 0.85), showing that the model is successful in preserving structural and perceptual similarity, which is crucial for realistic inpainting.</a:t>
            </a:r>
            <a:endParaRPr sz="1300" dirty="0"/>
          </a:p>
        </p:txBody>
      </p:sp>
      <p:sp>
        <p:nvSpPr>
          <p:cNvPr id="170" name="Google Shape;170;p34"/>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9</a:t>
            </a:fld>
            <a:endParaRPr/>
          </a:p>
        </p:txBody>
      </p:sp>
      <p:pic>
        <p:nvPicPr>
          <p:cNvPr id="171" name="Google Shape;171;p34"/>
          <p:cNvPicPr preferRelativeResize="0"/>
          <p:nvPr/>
        </p:nvPicPr>
        <p:blipFill>
          <a:blip r:embed="rId3">
            <a:alphaModFix/>
          </a:blip>
          <a:stretch>
            <a:fillRect/>
          </a:stretch>
        </p:blipFill>
        <p:spPr>
          <a:xfrm>
            <a:off x="708925" y="1176425"/>
            <a:ext cx="7293601" cy="2042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5"/>
          <p:cNvSpPr txBox="1">
            <a:spLocks noGrp="1"/>
          </p:cNvSpPr>
          <p:nvPr>
            <p:ph type="body" idx="1"/>
          </p:nvPr>
        </p:nvSpPr>
        <p:spPr>
          <a:xfrm>
            <a:off x="425200" y="1083650"/>
            <a:ext cx="8562300" cy="36561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500"/>
              </a:spcBef>
              <a:spcAft>
                <a:spcPts val="0"/>
              </a:spcAft>
              <a:buNone/>
            </a:pPr>
            <a:r>
              <a:rPr lang="en" sz="1300" dirty="0"/>
              <a:t>The training loss curve shows that the discriminator loss remains relatively stable across epochs, hovering around 0.6 to 0.7, which indicates balanced adversarial training. The generator loss initially decreases, suggesting early learning, but then slightly rises and stabilizes, which is typical in GANs as the generator tries to improve against a strengthening discriminator. Overall, both networks converge without signs of mode collapse or instability.</a:t>
            </a:r>
            <a:endParaRPr sz="1300" dirty="0"/>
          </a:p>
        </p:txBody>
      </p:sp>
      <p:sp>
        <p:nvSpPr>
          <p:cNvPr id="177" name="Google Shape;177;p35"/>
          <p:cNvSpPr txBox="1">
            <a:spLocks noGrp="1"/>
          </p:cNvSpPr>
          <p:nvPr>
            <p:ph type="title"/>
          </p:nvPr>
        </p:nvSpPr>
        <p:spPr>
          <a:xfrm>
            <a:off x="425146" y="700562"/>
            <a:ext cx="1654104" cy="401700"/>
          </a:xfrm>
          <a:prstGeom prst="rect">
            <a:avLst/>
          </a:prstGeom>
          <a:noFill/>
          <a:ln>
            <a:noFill/>
          </a:ln>
        </p:spPr>
        <p:txBody>
          <a:bodyPr spcFirstLastPara="1" wrap="square" lIns="68575" tIns="34275" rIns="68575" bIns="34275" anchor="b" anchorCtr="0">
            <a:spAutoFit/>
          </a:bodyPr>
          <a:lstStyle/>
          <a:p>
            <a:pPr marL="0" lvl="0" indent="0" algn="l" rtl="0">
              <a:lnSpc>
                <a:spcPct val="90000"/>
              </a:lnSpc>
              <a:spcBef>
                <a:spcPts val="0"/>
              </a:spcBef>
              <a:spcAft>
                <a:spcPts val="0"/>
              </a:spcAft>
              <a:buClr>
                <a:schemeClr val="dk2"/>
              </a:buClr>
              <a:buSzPts val="2700"/>
              <a:buFont typeface="Georgia"/>
              <a:buNone/>
            </a:pPr>
            <a:r>
              <a:rPr lang="en" sz="2400" b="1" dirty="0"/>
              <a:t>Results</a:t>
            </a:r>
            <a:endParaRPr sz="2400" b="1" dirty="0"/>
          </a:p>
        </p:txBody>
      </p:sp>
      <p:sp>
        <p:nvSpPr>
          <p:cNvPr id="178" name="Google Shape;178;p35"/>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10</a:t>
            </a:fld>
            <a:endParaRPr/>
          </a:p>
        </p:txBody>
      </p:sp>
      <p:pic>
        <p:nvPicPr>
          <p:cNvPr id="179" name="Google Shape;179;p35"/>
          <p:cNvPicPr preferRelativeResize="0"/>
          <p:nvPr/>
        </p:nvPicPr>
        <p:blipFill>
          <a:blip r:embed="rId3">
            <a:alphaModFix/>
          </a:blip>
          <a:stretch>
            <a:fillRect/>
          </a:stretch>
        </p:blipFill>
        <p:spPr>
          <a:xfrm>
            <a:off x="2079250" y="2361075"/>
            <a:ext cx="4651050" cy="2583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6"/>
          <p:cNvSpPr txBox="1">
            <a:spLocks noGrp="1"/>
          </p:cNvSpPr>
          <p:nvPr>
            <p:ph type="title"/>
          </p:nvPr>
        </p:nvSpPr>
        <p:spPr>
          <a:xfrm>
            <a:off x="425196" y="841150"/>
            <a:ext cx="5213700" cy="401700"/>
          </a:xfrm>
          <a:prstGeom prst="rect">
            <a:avLst/>
          </a:prstGeom>
        </p:spPr>
        <p:txBody>
          <a:bodyPr spcFirstLastPara="1" wrap="square" lIns="68575" tIns="34275" rIns="68575" bIns="34275" anchor="b" anchorCtr="0">
            <a:spAutoFit/>
          </a:bodyPr>
          <a:lstStyle/>
          <a:p>
            <a:pPr marL="0" lvl="0" indent="0" algn="l" rtl="0">
              <a:spcBef>
                <a:spcPts val="0"/>
              </a:spcBef>
              <a:spcAft>
                <a:spcPts val="0"/>
              </a:spcAft>
              <a:buNone/>
            </a:pPr>
            <a:r>
              <a:rPr lang="en" sz="2400" b="1" dirty="0"/>
              <a:t>Observation</a:t>
            </a:r>
            <a:endParaRPr sz="2400" b="1" dirty="0"/>
          </a:p>
        </p:txBody>
      </p:sp>
      <p:sp>
        <p:nvSpPr>
          <p:cNvPr id="185" name="Google Shape;185;p36"/>
          <p:cNvSpPr txBox="1">
            <a:spLocks noGrp="1"/>
          </p:cNvSpPr>
          <p:nvPr>
            <p:ph type="ftr" idx="11"/>
          </p:nvPr>
        </p:nvSpPr>
        <p:spPr>
          <a:xfrm>
            <a:off x="5680710" y="4739831"/>
            <a:ext cx="30861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186" name="Google Shape;186;p36"/>
          <p:cNvSpPr txBox="1">
            <a:spLocks noGrp="1"/>
          </p:cNvSpPr>
          <p:nvPr>
            <p:ph type="body" idx="1"/>
          </p:nvPr>
        </p:nvSpPr>
        <p:spPr>
          <a:xfrm>
            <a:off x="425196" y="1242850"/>
            <a:ext cx="8562300" cy="3830400"/>
          </a:xfrm>
          <a:prstGeom prst="rect">
            <a:avLst/>
          </a:prstGeom>
        </p:spPr>
        <p:txBody>
          <a:bodyPr spcFirstLastPara="1" wrap="square" lIns="68575" tIns="34275" rIns="68575" bIns="34275" anchor="t" anchorCtr="0">
            <a:noAutofit/>
          </a:bodyPr>
          <a:lstStyle/>
          <a:p>
            <a:pPr marL="0" lvl="0" indent="0" algn="l" rtl="0">
              <a:lnSpc>
                <a:spcPct val="100000"/>
              </a:lnSpc>
              <a:spcBef>
                <a:spcPts val="1200"/>
              </a:spcBef>
              <a:spcAft>
                <a:spcPts val="0"/>
              </a:spcAft>
              <a:buNone/>
            </a:pPr>
            <a:r>
              <a:rPr lang="en-US" sz="1200" b="1" dirty="0"/>
              <a:t>The Transformer-Gain Hybrid model received the best performance among all three models, with the lowest L1 loss and the highest PSNR and SSIM values. It was particularly effective in restoring large missing areas.</a:t>
            </a:r>
            <a:br>
              <a:rPr lang="en" sz="1200" b="1" dirty="0"/>
            </a:br>
            <a:endParaRPr lang="en" sz="1200" b="1" dirty="0"/>
          </a:p>
          <a:p>
            <a:pPr marL="0" lvl="0" indent="0" algn="l" rtl="0">
              <a:lnSpc>
                <a:spcPct val="100000"/>
              </a:lnSpc>
              <a:spcBef>
                <a:spcPts val="1200"/>
              </a:spcBef>
              <a:spcAft>
                <a:spcPts val="0"/>
              </a:spcAft>
              <a:buNone/>
            </a:pPr>
            <a:r>
              <a:rPr lang="en-US" sz="1200" b="1" dirty="0"/>
              <a:t>Adding attention mechanisms and residual connections, as seen in the </a:t>
            </a:r>
            <a:r>
              <a:rPr lang="en-US" sz="1200" b="1" dirty="0" err="1"/>
              <a:t>Biggun</a:t>
            </a:r>
            <a:r>
              <a:rPr lang="en-US" sz="1200" b="1" dirty="0"/>
              <a:t>-inspired model and transformer-song, improved the generation of fine texture and spatial continuity.</a:t>
            </a:r>
            <a:br>
              <a:rPr lang="en" sz="1200" b="1" dirty="0"/>
            </a:br>
            <a:endParaRPr lang="en" sz="1200" b="1" dirty="0"/>
          </a:p>
          <a:p>
            <a:pPr marL="0" lvl="0" indent="0" algn="l" rtl="0">
              <a:lnSpc>
                <a:spcPct val="100000"/>
              </a:lnSpc>
              <a:spcBef>
                <a:spcPts val="1200"/>
              </a:spcBef>
              <a:spcAft>
                <a:spcPts val="0"/>
              </a:spcAft>
              <a:buNone/>
            </a:pPr>
            <a:r>
              <a:rPr lang="en-US" sz="1200" b="1" dirty="0"/>
              <a:t>The use of advanced loss functions, including conceptual loss and SSIM loss, helps the model produce </a:t>
            </a:r>
            <a:r>
              <a:rPr lang="en-US" sz="1200" b="1" dirty="0" err="1"/>
              <a:t>innapted</a:t>
            </a:r>
            <a:r>
              <a:rPr lang="en-US" sz="1200" b="1" dirty="0"/>
              <a:t> images that are visually realistic and structurally accurate.</a:t>
            </a:r>
            <a:br>
              <a:rPr lang="en" sz="1200" b="1" dirty="0"/>
            </a:br>
            <a:endParaRPr sz="1200" b="1" dirty="0"/>
          </a:p>
          <a:p>
            <a:pPr marL="0" lvl="0" indent="0" algn="l" rtl="0">
              <a:lnSpc>
                <a:spcPct val="100000"/>
              </a:lnSpc>
              <a:spcBef>
                <a:spcPts val="1200"/>
              </a:spcBef>
              <a:spcAft>
                <a:spcPts val="0"/>
              </a:spcAft>
              <a:buNone/>
            </a:pPr>
            <a:r>
              <a:rPr lang="en-US" sz="1200" b="1" dirty="0"/>
              <a:t>The transformer-gain model displayed that the global reference capabilities of the transformer by combining the GANS with the normal power of the GANS leads to more effective and natural image reconstruction.</a:t>
            </a:r>
            <a:br>
              <a:rPr lang="en" sz="1200" b="1" dirty="0"/>
            </a:br>
            <a:endParaRPr lang="en-US" sz="1200" b="1" dirty="0"/>
          </a:p>
          <a:p>
            <a:pPr marL="0" lvl="0" indent="0" algn="l" rtl="0">
              <a:lnSpc>
                <a:spcPct val="100000"/>
              </a:lnSpc>
              <a:spcBef>
                <a:spcPts val="1200"/>
              </a:spcBef>
              <a:spcAft>
                <a:spcPts val="0"/>
              </a:spcAft>
              <a:buNone/>
            </a:pPr>
            <a:r>
              <a:rPr lang="en-US" sz="1200" b="1" dirty="0"/>
              <a:t>Compared to DCGAN and </a:t>
            </a:r>
            <a:r>
              <a:rPr lang="en-US" sz="1200" b="1" dirty="0" err="1"/>
              <a:t>Biggan</a:t>
            </a:r>
            <a:r>
              <a:rPr lang="en-US" sz="1200" b="1" dirty="0"/>
              <a:t> models, Transformer-Gain Hybrid got better performance, with the SSIM score 0.88, which indicates a high structural similarity for the original unwanted images.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8"/>
          <p:cNvSpPr txBox="1">
            <a:spLocks noGrp="1"/>
          </p:cNvSpPr>
          <p:nvPr>
            <p:ph type="title"/>
          </p:nvPr>
        </p:nvSpPr>
        <p:spPr>
          <a:xfrm>
            <a:off x="436179" y="886929"/>
            <a:ext cx="5213700" cy="401700"/>
          </a:xfrm>
          <a:prstGeom prst="rect">
            <a:avLst/>
          </a:prstGeom>
          <a:noFill/>
          <a:ln>
            <a:noFill/>
          </a:ln>
        </p:spPr>
        <p:txBody>
          <a:bodyPr spcFirstLastPara="1" wrap="square" lIns="68575" tIns="34275" rIns="68575" bIns="34275" anchor="b" anchorCtr="0">
            <a:spAutoFit/>
          </a:bodyPr>
          <a:lstStyle/>
          <a:p>
            <a:pPr marL="0" lvl="0" indent="0" algn="l" rtl="0">
              <a:lnSpc>
                <a:spcPct val="90000"/>
              </a:lnSpc>
              <a:spcBef>
                <a:spcPts val="0"/>
              </a:spcBef>
              <a:spcAft>
                <a:spcPts val="0"/>
              </a:spcAft>
              <a:buClr>
                <a:schemeClr val="dk2"/>
              </a:buClr>
              <a:buSzPts val="2700"/>
              <a:buFont typeface="Georgia"/>
              <a:buNone/>
            </a:pPr>
            <a:r>
              <a:rPr lang="en" sz="2400" dirty="0"/>
              <a:t>Key Observations/ Summary</a:t>
            </a:r>
            <a:endParaRPr sz="2400" dirty="0"/>
          </a:p>
        </p:txBody>
      </p:sp>
      <p:sp>
        <p:nvSpPr>
          <p:cNvPr id="199" name="Google Shape;199;p38"/>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200" name="Google Shape;200;p38"/>
          <p:cNvSpPr txBox="1">
            <a:spLocks noGrp="1"/>
          </p:cNvSpPr>
          <p:nvPr>
            <p:ph type="body" idx="1"/>
          </p:nvPr>
        </p:nvSpPr>
        <p:spPr>
          <a:xfrm>
            <a:off x="258632" y="1288629"/>
            <a:ext cx="5854541" cy="3854871"/>
          </a:xfrm>
          <a:prstGeom prst="rect">
            <a:avLst/>
          </a:prstGeom>
          <a:noFill/>
          <a:ln>
            <a:noFill/>
          </a:ln>
        </p:spPr>
        <p:txBody>
          <a:bodyPr spcFirstLastPara="1" wrap="square" lIns="68575" tIns="34275" rIns="68575" bIns="34275" anchor="ctr" anchorCtr="0">
            <a:spAutoFit/>
          </a:bodyPr>
          <a:lstStyle/>
          <a:p>
            <a:pPr marL="177800" lvl="0" indent="-165100" algn="l" rtl="0">
              <a:lnSpc>
                <a:spcPct val="100000"/>
              </a:lnSpc>
              <a:spcBef>
                <a:spcPts val="0"/>
              </a:spcBef>
              <a:spcAft>
                <a:spcPts val="0"/>
              </a:spcAft>
              <a:buSzPts val="1400"/>
              <a:buChar char="•"/>
            </a:pPr>
            <a:r>
              <a:rPr lang="en" sz="1200" b="1" dirty="0"/>
              <a:t>Innovative Representation:</a:t>
            </a:r>
            <a:r>
              <a:rPr lang="en" sz="1200" dirty="0"/>
              <a:t> </a:t>
            </a:r>
            <a:endParaRPr sz="1200" dirty="0"/>
          </a:p>
          <a:p>
            <a:pPr marL="520700" lvl="1" indent="-127000" algn="l" rtl="0">
              <a:lnSpc>
                <a:spcPct val="100000"/>
              </a:lnSpc>
              <a:spcBef>
                <a:spcPts val="0"/>
              </a:spcBef>
              <a:spcAft>
                <a:spcPts val="0"/>
              </a:spcAft>
              <a:buSzPts val="1400"/>
              <a:buFont typeface="Arial"/>
              <a:buChar char="•"/>
            </a:pPr>
            <a:r>
              <a:rPr lang="en-US" sz="1200" dirty="0"/>
              <a:t>Bipartite Graph model captures the entire structure of MILP nodes. </a:t>
            </a:r>
            <a:r>
              <a:rPr lang="en" sz="1200" dirty="0"/>
              <a:t> </a:t>
            </a:r>
            <a:endParaRPr sz="1200" dirty="0"/>
          </a:p>
          <a:p>
            <a:pPr marL="177800" lvl="0" indent="-165100" algn="l" rtl="0">
              <a:lnSpc>
                <a:spcPct val="100000"/>
              </a:lnSpc>
              <a:spcBef>
                <a:spcPts val="0"/>
              </a:spcBef>
              <a:spcAft>
                <a:spcPts val="0"/>
              </a:spcAft>
              <a:buSzPts val="1400"/>
              <a:buChar char="•"/>
            </a:pPr>
            <a:r>
              <a:rPr lang="en" sz="1200" b="1" dirty="0"/>
              <a:t>Siamese GNN Benefits:</a:t>
            </a:r>
            <a:r>
              <a:rPr lang="en" sz="1200" dirty="0"/>
              <a:t> </a:t>
            </a:r>
            <a:endParaRPr sz="1200" dirty="0"/>
          </a:p>
          <a:p>
            <a:pPr marL="520700" lvl="1" indent="-127000" algn="l" rtl="0">
              <a:lnSpc>
                <a:spcPct val="100000"/>
              </a:lnSpc>
              <a:spcBef>
                <a:spcPts val="0"/>
              </a:spcBef>
              <a:spcAft>
                <a:spcPts val="0"/>
              </a:spcAft>
              <a:buSzPts val="1400"/>
              <a:buFont typeface="Arial"/>
              <a:buChar char="•"/>
            </a:pPr>
            <a:r>
              <a:rPr lang="en-US" sz="1200" dirty="0"/>
              <a:t>A strong node rankings learns function, which reduces the number of discovered nodes. </a:t>
            </a:r>
          </a:p>
          <a:p>
            <a:pPr marL="177800" lvl="0" indent="-165100" algn="l" rtl="0">
              <a:lnSpc>
                <a:spcPct val="100000"/>
              </a:lnSpc>
              <a:spcBef>
                <a:spcPts val="0"/>
              </a:spcBef>
              <a:spcAft>
                <a:spcPts val="0"/>
              </a:spcAft>
              <a:buSzPts val="1400"/>
              <a:buChar char="•"/>
            </a:pPr>
            <a:r>
              <a:rPr lang="en-US" sz="1200" b="1" dirty="0"/>
              <a:t>Performance Gains:</a:t>
            </a:r>
            <a:r>
              <a:rPr lang="en-US" sz="1200" dirty="0"/>
              <a:t> </a:t>
            </a:r>
          </a:p>
          <a:p>
            <a:pPr marL="520700" lvl="1" indent="-127000" algn="l" rtl="0">
              <a:lnSpc>
                <a:spcPct val="100000"/>
              </a:lnSpc>
              <a:spcBef>
                <a:spcPts val="0"/>
              </a:spcBef>
              <a:spcAft>
                <a:spcPts val="0"/>
              </a:spcAft>
              <a:buSzPts val="1400"/>
              <a:buFont typeface="Arial"/>
              <a:buChar char="•"/>
            </a:pPr>
            <a:r>
              <a:rPr lang="en-US" sz="1200" dirty="0"/>
              <a:t>Better than traditional SCIP </a:t>
            </a:r>
            <a:r>
              <a:rPr lang="en-US" sz="1200" dirty="0" err="1"/>
              <a:t>heroistics</a:t>
            </a:r>
            <a:r>
              <a:rPr lang="en-US" sz="1200" dirty="0"/>
              <a:t> and other ML models with the time of rapid solution</a:t>
            </a:r>
            <a:r>
              <a:rPr lang="en" sz="1200" dirty="0"/>
              <a:t>. </a:t>
            </a:r>
            <a:endParaRPr sz="1200" dirty="0"/>
          </a:p>
          <a:p>
            <a:pPr marL="177800" lvl="0" indent="-165100" algn="l" rtl="0">
              <a:lnSpc>
                <a:spcPct val="100000"/>
              </a:lnSpc>
              <a:spcBef>
                <a:spcPts val="0"/>
              </a:spcBef>
              <a:spcAft>
                <a:spcPts val="0"/>
              </a:spcAft>
              <a:buSzPts val="1400"/>
              <a:buChar char="•"/>
            </a:pPr>
            <a:r>
              <a:rPr lang="en" sz="1200" b="1" dirty="0"/>
              <a:t>Generalization:</a:t>
            </a:r>
            <a:r>
              <a:rPr lang="en" sz="1200" dirty="0"/>
              <a:t> </a:t>
            </a:r>
            <a:endParaRPr sz="1200" dirty="0"/>
          </a:p>
          <a:p>
            <a:pPr marL="520700" lvl="1" indent="-127000" algn="l" rtl="0">
              <a:lnSpc>
                <a:spcPct val="100000"/>
              </a:lnSpc>
              <a:spcBef>
                <a:spcPts val="0"/>
              </a:spcBef>
              <a:spcAft>
                <a:spcPts val="0"/>
              </a:spcAft>
              <a:buSzPts val="1400"/>
              <a:buFont typeface="Arial"/>
              <a:buChar char="•"/>
            </a:pPr>
            <a:r>
              <a:rPr lang="en-US" sz="1200" dirty="0"/>
              <a:t>Effective on both training and large transfer examples. </a:t>
            </a:r>
            <a:r>
              <a:rPr lang="en" sz="1200" dirty="0"/>
              <a:t> </a:t>
            </a:r>
            <a:endParaRPr sz="1200" dirty="0"/>
          </a:p>
          <a:p>
            <a:pPr marL="0" lvl="0" indent="0" algn="l" rtl="0">
              <a:lnSpc>
                <a:spcPct val="100000"/>
              </a:lnSpc>
              <a:spcBef>
                <a:spcPts val="1200"/>
              </a:spcBef>
              <a:spcAft>
                <a:spcPts val="0"/>
              </a:spcAft>
              <a:buNone/>
            </a:pPr>
            <a:r>
              <a:rPr lang="en" sz="1200" b="1" dirty="0"/>
              <a:t>Future Directions:</a:t>
            </a:r>
            <a:r>
              <a:rPr lang="en" sz="1200" dirty="0"/>
              <a:t> </a:t>
            </a:r>
          </a:p>
          <a:p>
            <a:pPr marL="628650" lvl="1" indent="-171450">
              <a:lnSpc>
                <a:spcPct val="100000"/>
              </a:lnSpc>
              <a:spcBef>
                <a:spcPts val="600"/>
              </a:spcBef>
            </a:pPr>
            <a:r>
              <a:rPr lang="en-US" sz="1200" dirty="0"/>
              <a:t>End-to-end learned to integrate node selection with variable selection for </a:t>
            </a:r>
            <a:r>
              <a:rPr lang="en-US" sz="1200" dirty="0" err="1"/>
              <a:t>Milp</a:t>
            </a:r>
            <a:r>
              <a:rPr lang="en-US" sz="1200" dirty="0"/>
              <a:t> Solver</a:t>
            </a:r>
            <a:r>
              <a:rPr lang="en" sz="1200" dirty="0"/>
              <a:t> </a:t>
            </a:r>
          </a:p>
          <a:p>
            <a:pPr marL="628650" lvl="1" indent="-171450">
              <a:lnSpc>
                <a:spcPct val="100000"/>
              </a:lnSpc>
              <a:spcBef>
                <a:spcPts val="600"/>
              </a:spcBef>
            </a:pPr>
            <a:r>
              <a:rPr lang="en-US" sz="1200" dirty="0"/>
              <a:t>Explore more advanced copy learning strategies or include reinforcement learning. </a:t>
            </a:r>
          </a:p>
          <a:p>
            <a:pPr marL="171450" indent="-171450">
              <a:lnSpc>
                <a:spcPct val="100000"/>
              </a:lnSpc>
              <a:spcBef>
                <a:spcPts val="1200"/>
              </a:spcBef>
            </a:pPr>
            <a:r>
              <a:rPr lang="en" sz="1200" b="1" dirty="0"/>
              <a:t>Real-World Impact:</a:t>
            </a:r>
            <a:r>
              <a:rPr lang="en" sz="1200" dirty="0"/>
              <a:t> - Potential benefits in industries such as logistics, energy, and finance. - Improved solver efficiency can lead to significant cost and time savings.</a:t>
            </a:r>
            <a:endParaRPr sz="1200" dirty="0"/>
          </a:p>
        </p:txBody>
      </p:sp>
      <p:pic>
        <p:nvPicPr>
          <p:cNvPr id="3" name="Picture 2">
            <a:extLst>
              <a:ext uri="{FF2B5EF4-FFF2-40B4-BE49-F238E27FC236}">
                <a16:creationId xmlns:a16="http://schemas.microsoft.com/office/drawing/2014/main" id="{A5998435-B5D7-52D8-CF13-222BE367D600}"/>
              </a:ext>
            </a:extLst>
          </p:cNvPr>
          <p:cNvPicPr>
            <a:picLocks noChangeAspect="1"/>
          </p:cNvPicPr>
          <p:nvPr/>
        </p:nvPicPr>
        <p:blipFill>
          <a:blip r:embed="rId3"/>
          <a:stretch>
            <a:fillRect/>
          </a:stretch>
        </p:blipFill>
        <p:spPr>
          <a:xfrm>
            <a:off x="5987327" y="1043188"/>
            <a:ext cx="3070144" cy="1666539"/>
          </a:xfrm>
          <a:prstGeom prst="rect">
            <a:avLst/>
          </a:prstGeom>
        </p:spPr>
      </p:pic>
      <p:pic>
        <p:nvPicPr>
          <p:cNvPr id="1026" name="Picture 2">
            <a:extLst>
              <a:ext uri="{FF2B5EF4-FFF2-40B4-BE49-F238E27FC236}">
                <a16:creationId xmlns:a16="http://schemas.microsoft.com/office/drawing/2014/main" id="{277C0578-3E11-92C4-A338-A73100BACC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3173" y="2948900"/>
            <a:ext cx="2944298" cy="16193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9"/>
          <p:cNvSpPr txBox="1">
            <a:spLocks noGrp="1"/>
          </p:cNvSpPr>
          <p:nvPr>
            <p:ph type="title"/>
          </p:nvPr>
        </p:nvSpPr>
        <p:spPr>
          <a:xfrm>
            <a:off x="425196" y="1124712"/>
            <a:ext cx="4076466" cy="443198"/>
          </a:xfrm>
          <a:prstGeom prst="rect">
            <a:avLst/>
          </a:prstGeom>
          <a:noFill/>
          <a:ln>
            <a:noFill/>
          </a:ln>
        </p:spPr>
        <p:txBody>
          <a:bodyPr spcFirstLastPara="1" wrap="square" lIns="68575" tIns="34275" rIns="68575" bIns="34275" anchor="b" anchorCtr="0">
            <a:spAutoFit/>
          </a:bodyPr>
          <a:lstStyle/>
          <a:p>
            <a:pPr marL="0" lvl="0" indent="0" algn="l" rtl="0">
              <a:lnSpc>
                <a:spcPct val="90000"/>
              </a:lnSpc>
              <a:spcBef>
                <a:spcPts val="0"/>
              </a:spcBef>
              <a:spcAft>
                <a:spcPts val="0"/>
              </a:spcAft>
              <a:buClr>
                <a:schemeClr val="dk2"/>
              </a:buClr>
              <a:buSzPts val="2700"/>
              <a:buFont typeface="Georgia"/>
              <a:buNone/>
            </a:pPr>
            <a:r>
              <a:rPr lang="en" dirty="0"/>
              <a:t>Contribution Summary</a:t>
            </a:r>
            <a:endParaRPr dirty="0"/>
          </a:p>
        </p:txBody>
      </p:sp>
      <p:sp>
        <p:nvSpPr>
          <p:cNvPr id="206" name="Google Shape;206;p39"/>
          <p:cNvSpPr txBox="1">
            <a:spLocks noGrp="1"/>
          </p:cNvSpPr>
          <p:nvPr>
            <p:ph type="ftr" idx="11"/>
          </p:nvPr>
        </p:nvSpPr>
        <p:spPr>
          <a:xfrm>
            <a:off x="5680710" y="4739831"/>
            <a:ext cx="30861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207" name="Google Shape;207;p39"/>
          <p:cNvSpPr/>
          <p:nvPr/>
        </p:nvSpPr>
        <p:spPr>
          <a:xfrm rot="10800000" flipH="1">
            <a:off x="-6030983" y="2523923"/>
            <a:ext cx="18614699" cy="484748"/>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Times New Roman"/>
              <a:buNone/>
            </a:pPr>
            <a:r>
              <a:rPr lang="en"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Arial"/>
              <a:ea typeface="Arial"/>
              <a:cs typeface="Arial"/>
              <a:sym typeface="Arial"/>
            </a:endParaRPr>
          </a:p>
        </p:txBody>
      </p:sp>
      <p:graphicFrame>
        <p:nvGraphicFramePr>
          <p:cNvPr id="208" name="Google Shape;208;p39"/>
          <p:cNvGraphicFramePr/>
          <p:nvPr>
            <p:extLst>
              <p:ext uri="{D42A27DB-BD31-4B8C-83A1-F6EECF244321}">
                <p14:modId xmlns:p14="http://schemas.microsoft.com/office/powerpoint/2010/main" val="1267108839"/>
              </p:ext>
            </p:extLst>
          </p:nvPr>
        </p:nvGraphicFramePr>
        <p:xfrm>
          <a:off x="1717006" y="1899310"/>
          <a:ext cx="6084803" cy="2558242"/>
        </p:xfrm>
        <a:graphic>
          <a:graphicData uri="http://schemas.openxmlformats.org/drawingml/2006/table">
            <a:tbl>
              <a:tblPr firstRow="1" bandRow="1">
                <a:noFill/>
                <a:tableStyleId>{F94A6361-2A0A-4EB9-8CC3-3D3D81B405F7}</a:tableStyleId>
              </a:tblPr>
              <a:tblGrid>
                <a:gridCol w="2020853">
                  <a:extLst>
                    <a:ext uri="{9D8B030D-6E8A-4147-A177-3AD203B41FA5}">
                      <a16:colId xmlns:a16="http://schemas.microsoft.com/office/drawing/2014/main" val="20000"/>
                    </a:ext>
                  </a:extLst>
                </a:gridCol>
                <a:gridCol w="2031975">
                  <a:extLst>
                    <a:ext uri="{9D8B030D-6E8A-4147-A177-3AD203B41FA5}">
                      <a16:colId xmlns:a16="http://schemas.microsoft.com/office/drawing/2014/main" val="20001"/>
                    </a:ext>
                  </a:extLst>
                </a:gridCol>
                <a:gridCol w="2031975">
                  <a:extLst>
                    <a:ext uri="{9D8B030D-6E8A-4147-A177-3AD203B41FA5}">
                      <a16:colId xmlns:a16="http://schemas.microsoft.com/office/drawing/2014/main" val="20002"/>
                    </a:ext>
                  </a:extLst>
                </a:gridCol>
              </a:tblGrid>
              <a:tr h="278125">
                <a:tc>
                  <a:txBody>
                    <a:bodyPr/>
                    <a:lstStyle/>
                    <a:p>
                      <a:pPr marL="0" marR="0" lvl="0" indent="0" algn="l" rtl="0">
                        <a:spcBef>
                          <a:spcPts val="0"/>
                        </a:spcBef>
                        <a:spcAft>
                          <a:spcPts val="0"/>
                        </a:spcAft>
                        <a:buNone/>
                      </a:pPr>
                      <a:r>
                        <a:rPr lang="en" sz="1400" u="none" strike="noStrike" cap="none"/>
                        <a:t>Team Member</a:t>
                      </a:r>
                      <a:endParaRPr sz="1100"/>
                    </a:p>
                  </a:txBody>
                  <a:tcPr marL="68600" marR="68600" marT="34300" marB="34300"/>
                </a:tc>
                <a:tc>
                  <a:txBody>
                    <a:bodyPr/>
                    <a:lstStyle/>
                    <a:p>
                      <a:pPr marL="0" marR="0" lvl="0" indent="0" algn="l" rtl="0">
                        <a:spcBef>
                          <a:spcPts val="0"/>
                        </a:spcBef>
                        <a:spcAft>
                          <a:spcPts val="0"/>
                        </a:spcAft>
                        <a:buNone/>
                      </a:pPr>
                      <a:r>
                        <a:rPr lang="en" sz="1400"/>
                        <a:t>Presentation Part</a:t>
                      </a:r>
                      <a:endParaRPr sz="1100"/>
                    </a:p>
                  </a:txBody>
                  <a:tcPr marL="68600" marR="68600" marT="34300" marB="34300"/>
                </a:tc>
                <a:tc>
                  <a:txBody>
                    <a:bodyPr/>
                    <a:lstStyle/>
                    <a:p>
                      <a:pPr marL="0" marR="0" lvl="0" indent="0" algn="l" rtl="0">
                        <a:spcBef>
                          <a:spcPts val="0"/>
                        </a:spcBef>
                        <a:spcAft>
                          <a:spcPts val="0"/>
                        </a:spcAft>
                        <a:buNone/>
                      </a:pPr>
                      <a:r>
                        <a:rPr lang="en" sz="1400" dirty="0"/>
                        <a:t>Contribution %</a:t>
                      </a:r>
                      <a:endParaRPr sz="1100" dirty="0"/>
                    </a:p>
                  </a:txBody>
                  <a:tcPr marL="68600" marR="68600" marT="34300" marB="34300"/>
                </a:tc>
                <a:extLst>
                  <a:ext uri="{0D108BD9-81ED-4DB2-BD59-A6C34878D82A}">
                    <a16:rowId xmlns:a16="http://schemas.microsoft.com/office/drawing/2014/main" val="10000"/>
                  </a:ext>
                </a:extLst>
              </a:tr>
              <a:tr h="278125">
                <a:tc>
                  <a:txBody>
                    <a:bodyPr/>
                    <a:lstStyle/>
                    <a:p>
                      <a:pPr marL="0" marR="0" lvl="0" indent="0" algn="l" rtl="0">
                        <a:spcBef>
                          <a:spcPts val="0"/>
                        </a:spcBef>
                        <a:spcAft>
                          <a:spcPts val="0"/>
                        </a:spcAft>
                        <a:buNone/>
                      </a:pPr>
                      <a:r>
                        <a:rPr lang="en" sz="1400" dirty="0"/>
                        <a:t>Taran Mamidala</a:t>
                      </a:r>
                      <a:endParaRPr sz="1100" dirty="0"/>
                    </a:p>
                  </a:txBody>
                  <a:tcPr marL="68600" marR="68600" marT="34300" marB="34300"/>
                </a:tc>
                <a:tc>
                  <a:txBody>
                    <a:bodyPr/>
                    <a:lstStyle/>
                    <a:p>
                      <a:pPr marL="0" lvl="0" indent="0" algn="l" rtl="0">
                        <a:lnSpc>
                          <a:spcPct val="115000"/>
                        </a:lnSpc>
                        <a:spcBef>
                          <a:spcPts val="1200"/>
                        </a:spcBef>
                        <a:spcAft>
                          <a:spcPts val="0"/>
                        </a:spcAft>
                        <a:buNone/>
                      </a:pPr>
                      <a:r>
                        <a:rPr lang="en-US" sz="1400" b="0" dirty="0">
                          <a:solidFill>
                            <a:srgbClr val="000000"/>
                          </a:solidFill>
                        </a:rPr>
                        <a:t>Transformer-GAN Hybrid with Perceptual Loss</a:t>
                      </a:r>
                    </a:p>
                  </a:txBody>
                  <a:tcPr marL="68600" marR="68600" marT="34300" marB="34300"/>
                </a:tc>
                <a:tc>
                  <a:txBody>
                    <a:bodyPr/>
                    <a:lstStyle/>
                    <a:p>
                      <a:pPr marL="0" marR="0" lvl="0" indent="0" algn="l" rtl="0">
                        <a:spcBef>
                          <a:spcPts val="0"/>
                        </a:spcBef>
                        <a:spcAft>
                          <a:spcPts val="0"/>
                        </a:spcAft>
                        <a:buNone/>
                      </a:pPr>
                      <a:r>
                        <a:rPr lang="en-US" sz="1100" dirty="0"/>
                        <a:t>33.3%</a:t>
                      </a:r>
                      <a:endParaRPr sz="1100" dirty="0"/>
                    </a:p>
                  </a:txBody>
                  <a:tcPr marL="68600" marR="68600" marT="34300" marB="34300"/>
                </a:tc>
                <a:extLst>
                  <a:ext uri="{0D108BD9-81ED-4DB2-BD59-A6C34878D82A}">
                    <a16:rowId xmlns:a16="http://schemas.microsoft.com/office/drawing/2014/main" val="10001"/>
                  </a:ext>
                </a:extLst>
              </a:tr>
              <a:tr h="278125">
                <a:tc>
                  <a:txBody>
                    <a:bodyPr/>
                    <a:lstStyle/>
                    <a:p>
                      <a:pPr marL="0" marR="0" lvl="0" indent="0" algn="l" rtl="0">
                        <a:spcBef>
                          <a:spcPts val="0"/>
                        </a:spcBef>
                        <a:spcAft>
                          <a:spcPts val="0"/>
                        </a:spcAft>
                        <a:buNone/>
                      </a:pPr>
                      <a:r>
                        <a:rPr lang="fi-FI" sz="1400" b="0" dirty="0"/>
                        <a:t>Veera Saiva Sai Lakshmi Kalyan</a:t>
                      </a:r>
                      <a:endParaRPr sz="1400" b="0" dirty="0"/>
                    </a:p>
                  </a:txBody>
                  <a:tcPr marL="68600" marR="68600" marT="34300" marB="34300"/>
                </a:tc>
                <a:tc>
                  <a:txBody>
                    <a:bodyPr/>
                    <a:lstStyle/>
                    <a:p>
                      <a:pPr marL="0" lvl="0" indent="0" algn="l" rtl="0">
                        <a:lnSpc>
                          <a:spcPct val="115000"/>
                        </a:lnSpc>
                        <a:spcBef>
                          <a:spcPts val="1200"/>
                        </a:spcBef>
                        <a:spcAft>
                          <a:spcPts val="0"/>
                        </a:spcAft>
                        <a:buNone/>
                      </a:pPr>
                      <a:r>
                        <a:rPr lang="en-US" sz="1400" b="0" dirty="0" err="1">
                          <a:solidFill>
                            <a:srgbClr val="000000"/>
                          </a:solidFill>
                        </a:rPr>
                        <a:t>BigGAN</a:t>
                      </a:r>
                      <a:r>
                        <a:rPr lang="en-US" sz="1400" b="0" dirty="0">
                          <a:solidFill>
                            <a:srgbClr val="000000"/>
                          </a:solidFill>
                        </a:rPr>
                        <a:t>-Inspired Residual Generator with Attention</a:t>
                      </a:r>
                    </a:p>
                  </a:txBody>
                  <a:tcPr marL="68600" marR="68600" marT="34300" marB="34300"/>
                </a:tc>
                <a:tc>
                  <a:txBody>
                    <a:bodyPr/>
                    <a:lstStyle/>
                    <a:p>
                      <a:pPr marL="0" marR="0" lvl="0" indent="0" algn="l" rtl="0">
                        <a:spcBef>
                          <a:spcPts val="0"/>
                        </a:spcBef>
                        <a:spcAft>
                          <a:spcPts val="0"/>
                        </a:spcAft>
                        <a:buNone/>
                      </a:pPr>
                      <a:r>
                        <a:rPr lang="en-US" sz="1100" dirty="0"/>
                        <a:t>33.3%</a:t>
                      </a:r>
                      <a:endParaRPr sz="1100" dirty="0"/>
                    </a:p>
                  </a:txBody>
                  <a:tcPr marL="68600" marR="68600" marT="34300" marB="34300"/>
                </a:tc>
                <a:extLst>
                  <a:ext uri="{0D108BD9-81ED-4DB2-BD59-A6C34878D82A}">
                    <a16:rowId xmlns:a16="http://schemas.microsoft.com/office/drawing/2014/main" val="10002"/>
                  </a:ext>
                </a:extLst>
              </a:tr>
              <a:tr h="278125">
                <a:tc>
                  <a:txBody>
                    <a:bodyPr/>
                    <a:lstStyle/>
                    <a:p>
                      <a:pPr marL="0" marR="0" lvl="0" indent="0" algn="l" rtl="0">
                        <a:spcBef>
                          <a:spcPts val="0"/>
                        </a:spcBef>
                        <a:spcAft>
                          <a:spcPts val="0"/>
                        </a:spcAft>
                        <a:buNone/>
                      </a:pPr>
                      <a:r>
                        <a:rPr lang="en-US" sz="1400" b="0" dirty="0" err="1"/>
                        <a:t>Jupalli</a:t>
                      </a:r>
                      <a:r>
                        <a:rPr lang="en-US" sz="1400" b="0" dirty="0"/>
                        <a:t> Sai Abhisekh Reddy</a:t>
                      </a:r>
                      <a:endParaRPr sz="1400" b="0" dirty="0"/>
                    </a:p>
                  </a:txBody>
                  <a:tcPr marL="68600" marR="68600" marT="34300" marB="343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dirty="0">
                          <a:solidFill>
                            <a:srgbClr val="000000"/>
                          </a:solidFill>
                        </a:rPr>
                        <a:t>DCGAN-Based Generator with Mask-Augmentation</a:t>
                      </a:r>
                    </a:p>
                  </a:txBody>
                  <a:tcPr marL="68600" marR="68600" marT="34300" marB="34300"/>
                </a:tc>
                <a:tc>
                  <a:txBody>
                    <a:bodyPr/>
                    <a:lstStyle/>
                    <a:p>
                      <a:pPr marL="0" marR="0" lvl="0" indent="0" algn="l" rtl="0">
                        <a:spcBef>
                          <a:spcPts val="0"/>
                        </a:spcBef>
                        <a:spcAft>
                          <a:spcPts val="0"/>
                        </a:spcAft>
                        <a:buNone/>
                      </a:pPr>
                      <a:r>
                        <a:rPr lang="en-US" sz="1100" dirty="0"/>
                        <a:t>33.3%</a:t>
                      </a:r>
                      <a:endParaRPr sz="1100" dirty="0"/>
                    </a:p>
                  </a:txBody>
                  <a:tcPr marL="68600" marR="68600" marT="34300" marB="34300"/>
                </a:tc>
                <a:extLst>
                  <a:ext uri="{0D108BD9-81ED-4DB2-BD59-A6C34878D82A}">
                    <a16:rowId xmlns:a16="http://schemas.microsoft.com/office/drawing/2014/main" val="66795066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40"/>
          <p:cNvSpPr txBox="1">
            <a:spLocks noGrp="1"/>
          </p:cNvSpPr>
          <p:nvPr>
            <p:ph type="ctrTitle"/>
          </p:nvPr>
        </p:nvSpPr>
        <p:spPr>
          <a:xfrm>
            <a:off x="493776" y="1117997"/>
            <a:ext cx="4978800" cy="1790700"/>
          </a:xfrm>
          <a:prstGeom prst="rect">
            <a:avLst/>
          </a:prstGeom>
          <a:noFill/>
          <a:ln>
            <a:noFill/>
          </a:ln>
        </p:spPr>
        <p:txBody>
          <a:bodyPr spcFirstLastPara="1" wrap="square" lIns="0" tIns="34275" rIns="68575" bIns="34275" anchor="b" anchorCtr="0">
            <a:noAutofit/>
          </a:bodyPr>
          <a:lstStyle/>
          <a:p>
            <a:pPr marL="0" lvl="0" indent="0" algn="l" rtl="0">
              <a:lnSpc>
                <a:spcPct val="96666"/>
              </a:lnSpc>
              <a:spcBef>
                <a:spcPts val="0"/>
              </a:spcBef>
              <a:spcAft>
                <a:spcPts val="0"/>
              </a:spcAft>
              <a:buClr>
                <a:schemeClr val="lt1"/>
              </a:buClr>
              <a:buSzPts val="4500"/>
              <a:buFont typeface="Arial"/>
              <a:buNone/>
            </a:pPr>
            <a:r>
              <a:rPr lang="en"/>
              <a:t>THANK YOU</a:t>
            </a:r>
            <a:endParaRPr/>
          </a:p>
        </p:txBody>
      </p:sp>
      <p:sp>
        <p:nvSpPr>
          <p:cNvPr id="214" name="Google Shape;214;p40"/>
          <p:cNvSpPr txBox="1">
            <a:spLocks noGrp="1"/>
          </p:cNvSpPr>
          <p:nvPr>
            <p:ph type="subTitle" idx="1"/>
          </p:nvPr>
        </p:nvSpPr>
        <p:spPr>
          <a:xfrm>
            <a:off x="493776" y="2977753"/>
            <a:ext cx="4978908" cy="1659732"/>
          </a:xfrm>
          <a:prstGeom prst="rect">
            <a:avLst/>
          </a:prstGeom>
          <a:noFill/>
          <a:ln>
            <a:noFill/>
          </a:ln>
        </p:spPr>
        <p:txBody>
          <a:bodyPr spcFirstLastPara="1" wrap="square" lIns="0" tIns="34275" rIns="68575" bIns="34275" anchor="t" anchorCtr="0">
            <a:noAutofit/>
          </a:bodyPr>
          <a:lstStyle/>
          <a:p>
            <a:pPr marL="0" lvl="0" indent="0" algn="l" rtl="0">
              <a:lnSpc>
                <a:spcPct val="130000"/>
              </a:lnSpc>
              <a:spcBef>
                <a:spcPts val="0"/>
              </a:spcBef>
              <a:spcAft>
                <a:spcPts val="0"/>
              </a:spcAft>
              <a:buSzPts val="2500"/>
              <a:buNone/>
            </a:pPr>
            <a:r>
              <a:rPr lang="en"/>
              <a:t>We look forward to your questions and discussions</a:t>
            </a:r>
            <a:br>
              <a:rPr lang="en"/>
            </a:b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TotalTime>
  <Words>1501</Words>
  <Application>Microsoft Office PowerPoint</Application>
  <PresentationFormat>On-screen Show (16:9)</PresentationFormat>
  <Paragraphs>156</Paragraphs>
  <Slides>14</Slides>
  <Notes>14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Arial Black</vt:lpstr>
      <vt:lpstr>Georgia</vt:lpstr>
      <vt:lpstr>NTR</vt:lpstr>
      <vt:lpstr>Times New Roman</vt:lpstr>
      <vt:lpstr>Simple Light</vt:lpstr>
      <vt:lpstr>Office Theme</vt:lpstr>
      <vt:lpstr>Enhanced Image Inpainting using Transformer-GAN Hybrid Models</vt:lpstr>
      <vt:lpstr>Problem Statement</vt:lpstr>
      <vt:lpstr>Background</vt:lpstr>
      <vt:lpstr>Dataset Used:</vt:lpstr>
      <vt:lpstr>GAN:</vt:lpstr>
      <vt:lpstr>How GAN works?</vt:lpstr>
      <vt:lpstr>Method</vt:lpstr>
      <vt:lpstr>Method</vt:lpstr>
      <vt:lpstr>Results</vt:lpstr>
      <vt:lpstr>Results</vt:lpstr>
      <vt:lpstr>Observation</vt:lpstr>
      <vt:lpstr>Key Observations/ Summary</vt:lpstr>
      <vt:lpstr>Contribution 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Taran Mamidala</cp:lastModifiedBy>
  <cp:revision>9</cp:revision>
  <dcterms:modified xsi:type="dcterms:W3CDTF">2025-05-05T01:47:56Z</dcterms:modified>
</cp:coreProperties>
</file>