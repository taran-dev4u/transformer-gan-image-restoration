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72" r:id="rId5"/>
    <p:sldId id="275" r:id="rId6"/>
    <p:sldId id="260" r:id="rId7"/>
    <p:sldId id="263" r:id="rId8"/>
    <p:sldId id="264" r:id="rId9"/>
    <p:sldId id="265" r:id="rId10"/>
    <p:sldId id="266" r:id="rId11"/>
    <p:sldId id="261" r:id="rId12"/>
    <p:sldId id="273" r:id="rId13"/>
    <p:sldId id="274" r:id="rId14"/>
    <p:sldId id="262"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LU MEGHANA CHOWDARY 19BCD7105" initials="AMC1" lastIdx="1" clrIdx="0">
    <p:extLst>
      <p:ext uri="{19B8F6BF-5375-455C-9EA6-DF929625EA0E}">
        <p15:presenceInfo xmlns:p15="http://schemas.microsoft.com/office/powerpoint/2012/main" userId="ALLU MEGHANA CHOWDARY 19BCD7105"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Survey analysis and data collection</c:v>
                </c:pt>
              </c:strCache>
            </c:strRef>
          </c:tx>
          <c:spPr>
            <a:solidFill>
              <a:schemeClr val="accent1"/>
            </a:solidFill>
            <a:ln>
              <a:noFill/>
            </a:ln>
            <a:effectLst/>
          </c:spPr>
          <c:invertIfNegative val="0"/>
          <c:cat>
            <c:strRef>
              <c:f>Sheet1!$A$2:$A$5</c:f>
              <c:strCache>
                <c:ptCount val="3"/>
                <c:pt idx="0">
                  <c:v>Review1(18-23rd october)</c:v>
                </c:pt>
                <c:pt idx="1">
                  <c:v>Review2(15th-20th November)</c:v>
                </c:pt>
                <c:pt idx="2">
                  <c:v>Final Review</c:v>
                </c:pt>
              </c:strCache>
            </c:strRef>
          </c:cat>
          <c:val>
            <c:numRef>
              <c:f>Sheet1!$B$2:$B$5</c:f>
              <c:numCache>
                <c:formatCode>General</c:formatCode>
                <c:ptCount val="4"/>
                <c:pt idx="0">
                  <c:v>80</c:v>
                </c:pt>
                <c:pt idx="1">
                  <c:v>100</c:v>
                </c:pt>
                <c:pt idx="2">
                  <c:v>100</c:v>
                </c:pt>
              </c:numCache>
            </c:numRef>
          </c:val>
          <c:extLst>
            <c:ext xmlns:c16="http://schemas.microsoft.com/office/drawing/2014/chart" uri="{C3380CC4-5D6E-409C-BE32-E72D297353CC}">
              <c16:uniqueId val="{00000000-814C-4C92-861A-C275772E9339}"/>
            </c:ext>
          </c:extLst>
        </c:ser>
        <c:ser>
          <c:idx val="1"/>
          <c:order val="1"/>
          <c:tx>
            <c:strRef>
              <c:f>Sheet1!$C$1</c:f>
              <c:strCache>
                <c:ptCount val="1"/>
                <c:pt idx="0">
                  <c:v>Identifying modules</c:v>
                </c:pt>
              </c:strCache>
            </c:strRef>
          </c:tx>
          <c:spPr>
            <a:solidFill>
              <a:schemeClr val="accent2"/>
            </a:solidFill>
            <a:ln>
              <a:noFill/>
            </a:ln>
            <a:effectLst/>
          </c:spPr>
          <c:invertIfNegative val="0"/>
          <c:cat>
            <c:strRef>
              <c:f>Sheet1!$A$2:$A$5</c:f>
              <c:strCache>
                <c:ptCount val="3"/>
                <c:pt idx="0">
                  <c:v>Review1(18-23rd october)</c:v>
                </c:pt>
                <c:pt idx="1">
                  <c:v>Review2(15th-20th November)</c:v>
                </c:pt>
                <c:pt idx="2">
                  <c:v>Final Review</c:v>
                </c:pt>
              </c:strCache>
            </c:strRef>
          </c:cat>
          <c:val>
            <c:numRef>
              <c:f>Sheet1!$C$2:$C$5</c:f>
              <c:numCache>
                <c:formatCode>General</c:formatCode>
                <c:ptCount val="4"/>
                <c:pt idx="0">
                  <c:v>20</c:v>
                </c:pt>
                <c:pt idx="1">
                  <c:v>80</c:v>
                </c:pt>
                <c:pt idx="2">
                  <c:v>100</c:v>
                </c:pt>
              </c:numCache>
            </c:numRef>
          </c:val>
          <c:extLst>
            <c:ext xmlns:c16="http://schemas.microsoft.com/office/drawing/2014/chart" uri="{C3380CC4-5D6E-409C-BE32-E72D297353CC}">
              <c16:uniqueId val="{00000001-814C-4C92-861A-C275772E9339}"/>
            </c:ext>
          </c:extLst>
        </c:ser>
        <c:ser>
          <c:idx val="2"/>
          <c:order val="2"/>
          <c:tx>
            <c:strRef>
              <c:f>Sheet1!$D$1</c:f>
              <c:strCache>
                <c:ptCount val="1"/>
                <c:pt idx="0">
                  <c:v>implementing DL technique</c:v>
                </c:pt>
              </c:strCache>
            </c:strRef>
          </c:tx>
          <c:spPr>
            <a:solidFill>
              <a:schemeClr val="accent3"/>
            </a:solidFill>
            <a:ln>
              <a:noFill/>
            </a:ln>
            <a:effectLst/>
          </c:spPr>
          <c:invertIfNegative val="0"/>
          <c:cat>
            <c:strRef>
              <c:f>Sheet1!$A$2:$A$5</c:f>
              <c:strCache>
                <c:ptCount val="3"/>
                <c:pt idx="0">
                  <c:v>Review1(18-23rd october)</c:v>
                </c:pt>
                <c:pt idx="1">
                  <c:v>Review2(15th-20th November)</c:v>
                </c:pt>
                <c:pt idx="2">
                  <c:v>Final Review</c:v>
                </c:pt>
              </c:strCache>
            </c:strRef>
          </c:cat>
          <c:val>
            <c:numRef>
              <c:f>Sheet1!$D$2:$D$5</c:f>
              <c:numCache>
                <c:formatCode>General</c:formatCode>
                <c:ptCount val="4"/>
                <c:pt idx="0">
                  <c:v>0</c:v>
                </c:pt>
                <c:pt idx="1">
                  <c:v>60</c:v>
                </c:pt>
                <c:pt idx="2">
                  <c:v>100</c:v>
                </c:pt>
              </c:numCache>
            </c:numRef>
          </c:val>
          <c:extLst>
            <c:ext xmlns:c16="http://schemas.microsoft.com/office/drawing/2014/chart" uri="{C3380CC4-5D6E-409C-BE32-E72D297353CC}">
              <c16:uniqueId val="{00000002-814C-4C92-861A-C275772E9339}"/>
            </c:ext>
          </c:extLst>
        </c:ser>
        <c:ser>
          <c:idx val="3"/>
          <c:order val="3"/>
          <c:tx>
            <c:strRef>
              <c:f>Sheet1!$E$1</c:f>
              <c:strCache>
                <c:ptCount val="1"/>
                <c:pt idx="0">
                  <c:v>Checking test cases</c:v>
                </c:pt>
              </c:strCache>
            </c:strRef>
          </c:tx>
          <c:spPr>
            <a:solidFill>
              <a:schemeClr val="accent4"/>
            </a:solidFill>
            <a:ln>
              <a:noFill/>
            </a:ln>
            <a:effectLst/>
          </c:spPr>
          <c:invertIfNegative val="0"/>
          <c:cat>
            <c:strRef>
              <c:f>Sheet1!$A$2:$A$5</c:f>
              <c:strCache>
                <c:ptCount val="3"/>
                <c:pt idx="0">
                  <c:v>Review1(18-23rd october)</c:v>
                </c:pt>
                <c:pt idx="1">
                  <c:v>Review2(15th-20th November)</c:v>
                </c:pt>
                <c:pt idx="2">
                  <c:v>Final Review</c:v>
                </c:pt>
              </c:strCache>
            </c:strRef>
          </c:cat>
          <c:val>
            <c:numRef>
              <c:f>Sheet1!$E$2:$E$5</c:f>
              <c:numCache>
                <c:formatCode>General</c:formatCode>
                <c:ptCount val="4"/>
                <c:pt idx="0">
                  <c:v>0</c:v>
                </c:pt>
                <c:pt idx="1">
                  <c:v>50</c:v>
                </c:pt>
                <c:pt idx="2">
                  <c:v>100</c:v>
                </c:pt>
              </c:numCache>
            </c:numRef>
          </c:val>
          <c:extLst>
            <c:ext xmlns:c16="http://schemas.microsoft.com/office/drawing/2014/chart" uri="{C3380CC4-5D6E-409C-BE32-E72D297353CC}">
              <c16:uniqueId val="{00000003-814C-4C92-861A-C275772E9339}"/>
            </c:ext>
          </c:extLst>
        </c:ser>
        <c:dLbls>
          <c:showLegendKey val="0"/>
          <c:showVal val="0"/>
          <c:showCatName val="0"/>
          <c:showSerName val="0"/>
          <c:showPercent val="0"/>
          <c:showBubbleSize val="0"/>
        </c:dLbls>
        <c:gapWidth val="219"/>
        <c:overlap val="-27"/>
        <c:axId val="840649391"/>
        <c:axId val="840649807"/>
      </c:barChart>
      <c:catAx>
        <c:axId val="840649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40649807"/>
        <c:crosses val="autoZero"/>
        <c:auto val="1"/>
        <c:lblAlgn val="ctr"/>
        <c:lblOffset val="100"/>
        <c:noMultiLvlLbl val="0"/>
      </c:catAx>
      <c:valAx>
        <c:axId val="840649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40649391"/>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6830BB-1745-47E7-9381-9EF1319B3937}" type="datetimeFigureOut">
              <a:rPr lang="en-US" smtClean="0"/>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1959049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6830BB-1745-47E7-9381-9EF1319B3937}" type="datetimeFigureOut">
              <a:rPr lang="en-US" smtClean="0"/>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415207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D6830BB-1745-47E7-9381-9EF1319B3937}" type="datetimeFigureOut">
              <a:rPr lang="en-US" smtClean="0"/>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3529744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6830BB-1745-47E7-9381-9EF1319B3937}" type="datetimeFigureOut">
              <a:rPr lang="en-US" smtClean="0"/>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45197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6830BB-1745-47E7-9381-9EF1319B3937}" type="datetimeFigureOut">
              <a:rPr lang="en-US" smtClean="0"/>
              <a:t>11/21/2022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4016433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6830BB-1745-47E7-9381-9EF1319B3937}" type="datetimeFigureOut">
              <a:rPr lang="en-US" smtClean="0"/>
              <a:t>11/21/2022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1531744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6830BB-1745-47E7-9381-9EF1319B3937}" type="datetimeFigureOut">
              <a:rPr lang="en-US" smtClean="0"/>
              <a:t>11/21/2022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2422774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6830BB-1745-47E7-9381-9EF1319B3937}" type="datetimeFigureOut">
              <a:rPr lang="en-US" smtClean="0"/>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3139085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6830BB-1745-47E7-9381-9EF1319B3937}" type="datetimeFigureOut">
              <a:rPr lang="en-US" smtClean="0"/>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2870577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6830BB-1745-47E7-9381-9EF1319B3937}" type="datetimeFigureOut">
              <a:rPr lang="en-US" smtClean="0"/>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1326095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6830BB-1745-47E7-9381-9EF1319B3937}" type="datetimeFigureOut">
              <a:rPr lang="en-US" smtClean="0"/>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5509334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6830BB-1745-47E7-9381-9EF1319B3937}" type="datetimeFigureOut">
              <a:rPr lang="en-US" smtClean="0"/>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00ACB-676D-4186-BDCE-E307857A80CA}"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58708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6830BB-1745-47E7-9381-9EF1319B3937}" type="datetimeFigureOut">
              <a:rPr lang="en-US" smtClean="0"/>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36178393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D6830BB-1745-47E7-9381-9EF1319B3937}" type="datetimeFigureOut">
              <a:rPr lang="en-US" smtClean="0"/>
              <a:t>11/21/2022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10044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D6830BB-1745-47E7-9381-9EF1319B3937}" type="datetimeFigureOut">
              <a:rPr lang="en-US" smtClean="0"/>
              <a:t>11/21/2022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928022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6830BB-1745-47E7-9381-9EF1319B3937}" type="datetimeFigureOut">
              <a:rPr lang="en-US" smtClean="0"/>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39319956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6830BB-1745-47E7-9381-9EF1319B3937}" type="datetimeFigureOut">
              <a:rPr lang="en-US" smtClean="0"/>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00ACB-676D-4186-BDCE-E307857A80CA}" type="slidenum">
              <a:rPr lang="en-US" smtClean="0"/>
              <a:t>‹#›</a:t>
            </a:fld>
            <a:endParaRPr lang="en-US"/>
          </a:p>
        </p:txBody>
      </p:sp>
    </p:spTree>
    <p:extLst>
      <p:ext uri="{BB962C8B-B14F-4D97-AF65-F5344CB8AC3E}">
        <p14:creationId xmlns:p14="http://schemas.microsoft.com/office/powerpoint/2010/main" val="2109405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D6830BB-1745-47E7-9381-9EF1319B3937}" type="datetimeFigureOut">
              <a:rPr lang="en-US" smtClean="0"/>
              <a:t>11/21/2022</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0A00ACB-676D-4186-BDCE-E307857A80CA}" type="slidenum">
              <a:rPr lang="en-US" smtClean="0"/>
              <a:t>‹#›</a:t>
            </a:fld>
            <a:endParaRPr lang="en-US"/>
          </a:p>
        </p:txBody>
      </p:sp>
    </p:spTree>
    <p:extLst>
      <p:ext uri="{BB962C8B-B14F-4D97-AF65-F5344CB8AC3E}">
        <p14:creationId xmlns:p14="http://schemas.microsoft.com/office/powerpoint/2010/main" val="25266741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techtarget.com/whatis/definition/filter" TargetMode="External"/><Relationship Id="rId2" Type="http://schemas.openxmlformats.org/officeDocument/2006/relationships/hyperlink" Target="https://www.techtarget.com/searchnetworking/definition/signal"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605" y="285751"/>
            <a:ext cx="9184790" cy="2474539"/>
          </a:xfrm>
        </p:spPr>
        <p:txBody>
          <a:bodyPr>
            <a:normAutofit fontScale="90000"/>
          </a:bodyPr>
          <a:lstStyle/>
          <a:p>
            <a:r>
              <a:rPr lang="en-US" dirty="0"/>
              <a:t>Leaf disease identification for farmers using Deep Learning</a:t>
            </a:r>
          </a:p>
        </p:txBody>
      </p:sp>
      <p:sp>
        <p:nvSpPr>
          <p:cNvPr id="3" name="Subtitle 2"/>
          <p:cNvSpPr>
            <a:spLocks noGrp="1"/>
          </p:cNvSpPr>
          <p:nvPr>
            <p:ph type="subTitle" idx="1"/>
          </p:nvPr>
        </p:nvSpPr>
        <p:spPr>
          <a:xfrm>
            <a:off x="4426435" y="3429000"/>
            <a:ext cx="9001462" cy="2293937"/>
          </a:xfrm>
        </p:spPr>
        <p:txBody>
          <a:bodyPr>
            <a:normAutofit fontScale="92500" lnSpcReduction="20000"/>
          </a:bodyPr>
          <a:lstStyle/>
          <a:p>
            <a:r>
              <a:rPr lang="en-US" dirty="0"/>
              <a:t>Guided by: </a:t>
            </a:r>
          </a:p>
          <a:p>
            <a:r>
              <a:rPr lang="en-US" dirty="0"/>
              <a:t>Dr. Udit Narayana</a:t>
            </a:r>
          </a:p>
          <a:p>
            <a:r>
              <a:rPr lang="en-US" dirty="0"/>
              <a:t>Submitted by:</a:t>
            </a:r>
          </a:p>
          <a:p>
            <a:r>
              <a:rPr lang="en-US" dirty="0"/>
              <a:t> </a:t>
            </a:r>
            <a:r>
              <a:rPr lang="en-US" dirty="0" err="1"/>
              <a:t>Cherukuri</a:t>
            </a:r>
            <a:r>
              <a:rPr lang="en-US" dirty="0"/>
              <a:t> Roopa Chowdary (19bce7049)</a:t>
            </a:r>
          </a:p>
          <a:p>
            <a:r>
              <a:rPr lang="en-US" dirty="0"/>
              <a:t>Allu Meghana Chowdary (19bcd7105)</a:t>
            </a:r>
          </a:p>
        </p:txBody>
      </p:sp>
    </p:spTree>
    <p:extLst>
      <p:ext uri="{BB962C8B-B14F-4D97-AF65-F5344CB8AC3E}">
        <p14:creationId xmlns:p14="http://schemas.microsoft.com/office/powerpoint/2010/main" val="184028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 Discussed</a:t>
            </a:r>
          </a:p>
        </p:txBody>
      </p:sp>
      <p:sp>
        <p:nvSpPr>
          <p:cNvPr id="3" name="TextBox 2"/>
          <p:cNvSpPr txBox="1"/>
          <p:nvPr/>
        </p:nvSpPr>
        <p:spPr>
          <a:xfrm>
            <a:off x="746216" y="2005590"/>
            <a:ext cx="5917646" cy="3108543"/>
          </a:xfrm>
          <a:prstGeom prst="rect">
            <a:avLst/>
          </a:prstGeom>
          <a:noFill/>
        </p:spPr>
        <p:txBody>
          <a:bodyPr wrap="none" rtlCol="0">
            <a:spAutoFit/>
          </a:bodyPr>
          <a:lstStyle/>
          <a:p>
            <a:pPr marL="285750" indent="-285750">
              <a:buFont typeface="Wingdings" panose="05000000000000000000" pitchFamily="2" charset="2"/>
              <a:buChar char="Ø"/>
            </a:pPr>
            <a:r>
              <a:rPr lang="en-US" sz="2800" dirty="0"/>
              <a:t>Tomato Leaf diseases considered</a:t>
            </a:r>
          </a:p>
          <a:p>
            <a:pPr marL="285750" indent="-285750">
              <a:buFont typeface="Wingdings" panose="05000000000000000000" pitchFamily="2" charset="2"/>
              <a:buChar char="Ø"/>
            </a:pPr>
            <a:r>
              <a:rPr lang="en-US" sz="2800" dirty="0"/>
              <a:t>CNN technique</a:t>
            </a:r>
          </a:p>
          <a:p>
            <a:pPr marL="285750" indent="-285750">
              <a:buFont typeface="Wingdings" panose="05000000000000000000" pitchFamily="2" charset="2"/>
              <a:buChar char="Ø"/>
            </a:pPr>
            <a:r>
              <a:rPr lang="en-US" sz="2800" dirty="0"/>
              <a:t>Methodology</a:t>
            </a:r>
          </a:p>
          <a:p>
            <a:pPr marL="285750" indent="-285750">
              <a:buFont typeface="Wingdings" panose="05000000000000000000" pitchFamily="2" charset="2"/>
              <a:buChar char="Ø"/>
            </a:pPr>
            <a:r>
              <a:rPr lang="en-US" sz="2800" dirty="0"/>
              <a:t>Presentation</a:t>
            </a:r>
          </a:p>
          <a:p>
            <a:pPr marL="285750" indent="-285750">
              <a:buFont typeface="Wingdings" panose="05000000000000000000" pitchFamily="2" charset="2"/>
              <a:buChar char="Ø"/>
            </a:pPr>
            <a:r>
              <a:rPr lang="en-US" sz="2800" dirty="0"/>
              <a:t>Literature survey</a:t>
            </a:r>
          </a:p>
          <a:p>
            <a:pPr marL="285750" indent="-285750">
              <a:buFont typeface="Wingdings" panose="05000000000000000000" pitchFamily="2" charset="2"/>
              <a:buChar char="Ø"/>
            </a:pPr>
            <a:r>
              <a:rPr lang="en-US" sz="2800" dirty="0"/>
              <a:t>Test cases</a:t>
            </a:r>
          </a:p>
          <a:p>
            <a:pPr marL="285750" indent="-285750">
              <a:buFont typeface="Wingdings" panose="05000000000000000000" pitchFamily="2" charset="2"/>
              <a:buChar char="Ø"/>
            </a:pPr>
            <a:r>
              <a:rPr lang="en-US" sz="2800" dirty="0"/>
              <a:t>Timeline</a:t>
            </a:r>
          </a:p>
        </p:txBody>
      </p:sp>
    </p:spTree>
    <p:extLst>
      <p:ext uri="{BB962C8B-B14F-4D97-AF65-F5344CB8AC3E}">
        <p14:creationId xmlns:p14="http://schemas.microsoft.com/office/powerpoint/2010/main" val="3957911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Tomato Leaf Diseases </a:t>
            </a:r>
          </a:p>
        </p:txBody>
      </p:sp>
      <p:sp>
        <p:nvSpPr>
          <p:cNvPr id="3" name="TextBox 2"/>
          <p:cNvSpPr txBox="1"/>
          <p:nvPr/>
        </p:nvSpPr>
        <p:spPr>
          <a:xfrm>
            <a:off x="1104814" y="1638300"/>
            <a:ext cx="10353761" cy="5909310"/>
          </a:xfrm>
          <a:prstGeom prst="rect">
            <a:avLst/>
          </a:prstGeom>
          <a:noFill/>
        </p:spPr>
        <p:txBody>
          <a:bodyPr wrap="square" rtlCol="0">
            <a:spAutoFit/>
          </a:bodyPr>
          <a:lstStyle/>
          <a:p>
            <a:pPr algn="l"/>
            <a:r>
              <a:rPr lang="en-US" i="0" dirty="0">
                <a:effectLst/>
              </a:rPr>
              <a:t>Appearing as tiny, round splotches on the leaves, this tomato disease known as Septoria </a:t>
            </a:r>
            <a:r>
              <a:rPr lang="en-US" i="0" dirty="0" err="1">
                <a:effectLst/>
              </a:rPr>
              <a:t>lycopersici</a:t>
            </a:r>
            <a:r>
              <a:rPr lang="en-US" i="0" dirty="0">
                <a:effectLst/>
              </a:rPr>
              <a:t> typically starts on the lowest leaves first. The spots have dark brown edges and lighter centers, and there are usually many spots on each leaf. Infected leaves eventually turn yellow and then brown, and fall off.</a:t>
            </a:r>
          </a:p>
          <a:p>
            <a:pPr algn="l"/>
            <a:endParaRPr lang="en-US" i="0" dirty="0">
              <a:effectLst/>
            </a:endParaRPr>
          </a:p>
          <a:p>
            <a:pPr algn="l"/>
            <a:r>
              <a:rPr lang="en-US" dirty="0"/>
              <a:t>Some of the tomato leaf diseases considered are</a:t>
            </a:r>
          </a:p>
          <a:p>
            <a:pPr algn="l"/>
            <a:endParaRPr lang="en-US" dirty="0"/>
          </a:p>
          <a:p>
            <a:pPr marL="285750" indent="-285750" algn="l">
              <a:buFont typeface="Wingdings" panose="05000000000000000000" pitchFamily="2" charset="2"/>
              <a:buChar char="Ø"/>
            </a:pPr>
            <a:r>
              <a:rPr lang="en-US" b="0" i="0" dirty="0">
                <a:effectLst/>
              </a:rPr>
              <a:t>Tomato – </a:t>
            </a:r>
            <a:r>
              <a:rPr lang="en-US" b="0" i="0" dirty="0" err="1">
                <a:effectLst/>
              </a:rPr>
              <a:t>Late_blight</a:t>
            </a:r>
            <a:endParaRPr lang="en-US" b="0" i="0" dirty="0">
              <a:effectLst/>
            </a:endParaRPr>
          </a:p>
          <a:p>
            <a:pPr marL="285750" indent="-285750" algn="l">
              <a:buFont typeface="Wingdings" panose="05000000000000000000" pitchFamily="2" charset="2"/>
              <a:buChar char="Ø"/>
            </a:pPr>
            <a:r>
              <a:rPr lang="en-US" b="0" i="0" dirty="0">
                <a:effectLst/>
              </a:rPr>
              <a:t>Tomato – </a:t>
            </a:r>
            <a:r>
              <a:rPr lang="en-US" b="0" i="0" dirty="0" err="1">
                <a:effectLst/>
              </a:rPr>
              <a:t>Leaf_Mold</a:t>
            </a:r>
            <a:endParaRPr lang="en-US" b="0" i="0" dirty="0">
              <a:effectLst/>
            </a:endParaRPr>
          </a:p>
          <a:p>
            <a:pPr marL="285750" indent="-285750" algn="l">
              <a:buFont typeface="Wingdings" panose="05000000000000000000" pitchFamily="2" charset="2"/>
              <a:buChar char="Ø"/>
            </a:pPr>
            <a:r>
              <a:rPr lang="en-US" b="0" i="0" dirty="0">
                <a:effectLst/>
              </a:rPr>
              <a:t>Tomato – </a:t>
            </a:r>
            <a:r>
              <a:rPr lang="en-US" b="0" i="0" dirty="0" err="1">
                <a:effectLst/>
              </a:rPr>
              <a:t>Septoria_leaf</a:t>
            </a:r>
            <a:r>
              <a:rPr lang="en-US" dirty="0" err="1"/>
              <a:t>_</a:t>
            </a:r>
            <a:r>
              <a:rPr lang="en-US" b="0" i="0" dirty="0" err="1">
                <a:effectLst/>
              </a:rPr>
              <a:t>spot</a:t>
            </a:r>
            <a:endParaRPr lang="en-US" b="0" i="0" dirty="0">
              <a:effectLst/>
            </a:endParaRPr>
          </a:p>
          <a:p>
            <a:pPr marL="285750" indent="-285750" algn="l">
              <a:buFont typeface="Wingdings" panose="05000000000000000000" pitchFamily="2" charset="2"/>
              <a:buChar char="Ø"/>
            </a:pPr>
            <a:r>
              <a:rPr lang="en-US" b="0" i="0" dirty="0">
                <a:effectLst/>
              </a:rPr>
              <a:t>Tomato – </a:t>
            </a:r>
            <a:r>
              <a:rPr lang="en-US" b="0" i="0" dirty="0" err="1">
                <a:effectLst/>
              </a:rPr>
              <a:t>Target_Spot</a:t>
            </a:r>
            <a:endParaRPr lang="en-US" b="0" i="0" dirty="0">
              <a:effectLst/>
            </a:endParaRPr>
          </a:p>
          <a:p>
            <a:pPr marL="285750" indent="-285750" algn="l">
              <a:buFont typeface="Wingdings" panose="05000000000000000000" pitchFamily="2" charset="2"/>
              <a:buChar char="Ø"/>
            </a:pPr>
            <a:r>
              <a:rPr lang="en-US" b="0" i="0" dirty="0">
                <a:effectLst/>
              </a:rPr>
              <a:t>Tomato – </a:t>
            </a:r>
            <a:r>
              <a:rPr lang="en-US" b="0" i="0" dirty="0" err="1">
                <a:effectLst/>
              </a:rPr>
              <a:t>Tomato_mosaic</a:t>
            </a:r>
            <a:r>
              <a:rPr lang="en-US" dirty="0" err="1"/>
              <a:t>_</a:t>
            </a:r>
            <a:r>
              <a:rPr lang="en-US" b="0" i="0" dirty="0" err="1">
                <a:effectLst/>
              </a:rPr>
              <a:t>virus</a:t>
            </a:r>
            <a:endParaRPr lang="en-US" dirty="0"/>
          </a:p>
          <a:p>
            <a:pPr marL="285750" indent="-285750" algn="l">
              <a:buFont typeface="Wingdings" panose="05000000000000000000" pitchFamily="2" charset="2"/>
              <a:buChar char="Ø"/>
            </a:pPr>
            <a:r>
              <a:rPr lang="en-US" b="0" i="0" dirty="0">
                <a:effectLst/>
              </a:rPr>
              <a:t>Tomato – </a:t>
            </a:r>
            <a:r>
              <a:rPr lang="en-US" b="0" i="0" dirty="0" err="1">
                <a:effectLst/>
              </a:rPr>
              <a:t>Tomato_Yellow</a:t>
            </a:r>
            <a:r>
              <a:rPr lang="en-US" dirty="0" err="1"/>
              <a:t>_</a:t>
            </a:r>
            <a:r>
              <a:rPr lang="en-US" b="0" i="0" dirty="0" err="1">
                <a:effectLst/>
              </a:rPr>
              <a:t>Leaf_Curl_Virus</a:t>
            </a:r>
            <a:endParaRPr lang="en-US" dirty="0"/>
          </a:p>
          <a:p>
            <a:pPr marL="285750" indent="-285750" algn="l">
              <a:buFont typeface="Wingdings" panose="05000000000000000000" pitchFamily="2" charset="2"/>
              <a:buChar char="Ø"/>
            </a:pPr>
            <a:r>
              <a:rPr lang="en-US" b="0" i="0" dirty="0">
                <a:effectLst/>
              </a:rPr>
              <a:t>Tomato – Two-spotted_spider_mite</a:t>
            </a:r>
          </a:p>
          <a:p>
            <a:pPr marL="285750" indent="-285750" algn="l">
              <a:buFont typeface="Wingdings" panose="05000000000000000000" pitchFamily="2" charset="2"/>
              <a:buChar char="Ø"/>
            </a:pPr>
            <a:r>
              <a:rPr lang="en-US" b="0" i="0" dirty="0">
                <a:effectLst/>
              </a:rPr>
              <a:t>Tomato – </a:t>
            </a:r>
            <a:r>
              <a:rPr lang="en-US" b="0" i="0" dirty="0" err="1">
                <a:effectLst/>
              </a:rPr>
              <a:t>Bacteria</a:t>
            </a:r>
            <a:r>
              <a:rPr lang="en-US" dirty="0" err="1"/>
              <a:t>_</a:t>
            </a:r>
            <a:r>
              <a:rPr lang="en-US" b="0" i="0" dirty="0" err="1">
                <a:effectLst/>
              </a:rPr>
              <a:t>Spot</a:t>
            </a:r>
            <a:endParaRPr lang="en-US" b="0" i="0" dirty="0">
              <a:effectLst/>
            </a:endParaRPr>
          </a:p>
          <a:p>
            <a:pPr marL="285750" indent="-285750" algn="l">
              <a:buFont typeface="Wingdings" panose="05000000000000000000" pitchFamily="2" charset="2"/>
              <a:buChar char="Ø"/>
            </a:pPr>
            <a:r>
              <a:rPr lang="en-US" b="0" i="0" dirty="0">
                <a:effectLst/>
              </a:rPr>
              <a:t>Tomato – </a:t>
            </a:r>
            <a:r>
              <a:rPr lang="en-US" b="0" i="0" dirty="0" err="1">
                <a:effectLst/>
              </a:rPr>
              <a:t>Early</a:t>
            </a:r>
            <a:r>
              <a:rPr lang="en-US" dirty="0" err="1"/>
              <a:t>_</a:t>
            </a:r>
            <a:r>
              <a:rPr lang="en-US" b="0" i="0" dirty="0" err="1">
                <a:effectLst/>
              </a:rPr>
              <a:t>Blight</a:t>
            </a:r>
            <a:endParaRPr lang="en-US" b="0" i="0" dirty="0">
              <a:effectLst/>
            </a:endParaRPr>
          </a:p>
          <a:p>
            <a:pPr marL="285750" indent="-285750" algn="l">
              <a:buFont typeface="Wingdings" panose="05000000000000000000" pitchFamily="2" charset="2"/>
              <a:buChar char="Ø"/>
            </a:pPr>
            <a:r>
              <a:rPr lang="en-US" b="0" i="0" dirty="0">
                <a:effectLst/>
              </a:rPr>
              <a:t>Tomato – Healthy</a:t>
            </a:r>
          </a:p>
          <a:p>
            <a:br>
              <a:rPr lang="en-US" b="0" i="0" dirty="0">
                <a:solidFill>
                  <a:srgbClr val="202124"/>
                </a:solidFill>
                <a:effectLst/>
                <a:latin typeface="arial" panose="020B0604020202020204" pitchFamily="34" charset="0"/>
              </a:rPr>
            </a:br>
            <a:r>
              <a:rPr lang="en-US" dirty="0"/>
              <a:t>  </a:t>
            </a:r>
          </a:p>
          <a:p>
            <a:r>
              <a:rPr lang="en-US" dirty="0"/>
              <a:t> </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4244036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CNN technique</a:t>
            </a:r>
          </a:p>
        </p:txBody>
      </p:sp>
      <p:sp>
        <p:nvSpPr>
          <p:cNvPr id="3" name="TextBox 2"/>
          <p:cNvSpPr txBox="1"/>
          <p:nvPr/>
        </p:nvSpPr>
        <p:spPr>
          <a:xfrm>
            <a:off x="1028700" y="1638300"/>
            <a:ext cx="10429875" cy="4801314"/>
          </a:xfrm>
          <a:prstGeom prst="rect">
            <a:avLst/>
          </a:prstGeom>
          <a:noFill/>
        </p:spPr>
        <p:txBody>
          <a:bodyPr wrap="square" rtlCol="0">
            <a:spAutoFit/>
          </a:bodyPr>
          <a:lstStyle/>
          <a:p>
            <a:pPr marL="285750" indent="-285750">
              <a:buFont typeface="Wingdings" panose="05000000000000000000" pitchFamily="2" charset="2"/>
              <a:buChar char="Ø"/>
            </a:pPr>
            <a:r>
              <a:rPr lang="en-US" b="0" i="0" dirty="0">
                <a:effectLst/>
              </a:rPr>
              <a:t>CNN is </a:t>
            </a:r>
            <a:r>
              <a:rPr lang="en-US" b="1" i="0" dirty="0">
                <a:effectLst/>
              </a:rPr>
              <a:t>a type of artificial neural network, which is widely used for image </a:t>
            </a:r>
            <a:r>
              <a:rPr lang="en-US" b="1" dirty="0"/>
              <a:t>or </a:t>
            </a:r>
            <a:r>
              <a:rPr lang="en-US" b="1" i="0" dirty="0">
                <a:effectLst/>
              </a:rPr>
              <a:t>object recognition, classification and tasks that involve the processing of pixel data</a:t>
            </a:r>
            <a:r>
              <a:rPr lang="en-US" b="0" i="0" dirty="0">
                <a:effectLst/>
              </a:rPr>
              <a:t>.. Deep Learning thus recognizes objects in an image by using a CNN. It can also classify audio and </a:t>
            </a:r>
            <a:r>
              <a:rPr lang="en-US" b="0" i="0" u="sng" dirty="0">
                <a:effectLst/>
                <a:hlinkClick r:id="rId2">
                  <a:extLst>
                    <a:ext uri="{A12FA001-AC4F-418D-AE19-62706E023703}">
                      <ahyp:hlinkClr xmlns:ahyp="http://schemas.microsoft.com/office/drawing/2018/hyperlinkcolor" val="tx"/>
                    </a:ext>
                  </a:extLst>
                </a:hlinkClick>
              </a:rPr>
              <a:t>signal</a:t>
            </a:r>
            <a:r>
              <a:rPr lang="en-US" b="0" i="0" dirty="0">
                <a:effectLst/>
              </a:rPr>
              <a:t> data</a:t>
            </a:r>
          </a:p>
          <a:p>
            <a:pPr marL="285750" indent="-285750">
              <a:buFont typeface="Wingdings" panose="05000000000000000000" pitchFamily="2" charset="2"/>
              <a:buChar char="Ø"/>
            </a:pPr>
            <a:r>
              <a:rPr lang="en-US" b="0" i="0" dirty="0">
                <a:effectLst/>
              </a:rPr>
              <a:t>A CNN's architecture is analogous to the connectivity pattern of the human brain. Just like the brain consists of billions of neurons, CNNs also have neurons arranged in a specific way.</a:t>
            </a:r>
            <a:endParaRPr lang="en-US" dirty="0"/>
          </a:p>
          <a:p>
            <a:pPr marL="285750" indent="-285750">
              <a:buFont typeface="Wingdings" panose="05000000000000000000" pitchFamily="2" charset="2"/>
              <a:buChar char="Ø"/>
            </a:pPr>
            <a:r>
              <a:rPr lang="en-US" b="0" i="0" dirty="0">
                <a:effectLst/>
              </a:rPr>
              <a:t>A CNN can have multiple layers, each of which </a:t>
            </a:r>
            <a:r>
              <a:rPr lang="en-US" b="0" i="1" dirty="0">
                <a:effectLst/>
              </a:rPr>
              <a:t>learns</a:t>
            </a:r>
            <a:r>
              <a:rPr lang="en-US" b="0" i="0" dirty="0">
                <a:effectLst/>
              </a:rPr>
              <a:t> to detect the different features of an input image. A </a:t>
            </a:r>
            <a:r>
              <a:rPr lang="en-US" b="0" i="0" u="sng" dirty="0">
                <a:effectLst/>
                <a:hlinkClick r:id="rId3">
                  <a:extLst>
                    <a:ext uri="{A12FA001-AC4F-418D-AE19-62706E023703}">
                      <ahyp:hlinkClr xmlns:ahyp="http://schemas.microsoft.com/office/drawing/2018/hyperlinkcolor" val="tx"/>
                    </a:ext>
                  </a:extLst>
                </a:hlinkClick>
              </a:rPr>
              <a:t>filter</a:t>
            </a:r>
            <a:r>
              <a:rPr lang="en-US" b="0" i="0" dirty="0">
                <a:effectLst/>
              </a:rPr>
              <a:t> or kernel is applied to each image to produce an output</a:t>
            </a:r>
          </a:p>
          <a:p>
            <a:pPr marL="285750" indent="-285750">
              <a:buFont typeface="Wingdings" panose="05000000000000000000" pitchFamily="2" charset="2"/>
              <a:buChar char="Ø"/>
            </a:pPr>
            <a:r>
              <a:rPr lang="en-US" b="0" i="0" dirty="0">
                <a:effectLst/>
              </a:rPr>
              <a:t>At each successive layer, the filters increase in complexity to check and identify features that uniquely represent the input object. </a:t>
            </a:r>
            <a:endParaRPr lang="en-US" dirty="0"/>
          </a:p>
          <a:p>
            <a:pPr marL="285750" indent="-285750">
              <a:buFont typeface="Wingdings" panose="05000000000000000000" pitchFamily="2" charset="2"/>
              <a:buChar char="Ø"/>
            </a:pPr>
            <a:r>
              <a:rPr lang="en-US" b="0" i="0" dirty="0">
                <a:effectLst/>
              </a:rPr>
              <a:t>With convolution, the input image goes through a set of these filters. As each filter activates certain features from the image, it does its work and passes on its output to the filter in the next layer.</a:t>
            </a:r>
          </a:p>
          <a:p>
            <a:pPr marL="285750" indent="-285750">
              <a:buFont typeface="Wingdings" panose="05000000000000000000" pitchFamily="2" charset="2"/>
              <a:buChar char="Ø"/>
            </a:pPr>
            <a:endParaRPr lang="en-US" b="0" i="0" dirty="0">
              <a:effectLst/>
              <a:latin typeface="arial" panose="020B0604020202020204" pitchFamily="34" charset="0"/>
            </a:endParaRPr>
          </a:p>
          <a:p>
            <a:endParaRPr lang="en-US" dirty="0"/>
          </a:p>
          <a:p>
            <a:r>
              <a:rPr lang="en-US" dirty="0"/>
              <a:t> </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56360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FE01-35C1-007F-5EE1-0A9B52938318}"/>
              </a:ext>
            </a:extLst>
          </p:cNvPr>
          <p:cNvSpPr>
            <a:spLocks noGrp="1"/>
          </p:cNvSpPr>
          <p:nvPr>
            <p:ph type="title"/>
          </p:nvPr>
        </p:nvSpPr>
        <p:spPr/>
        <p:txBody>
          <a:bodyPr/>
          <a:lstStyle/>
          <a:p>
            <a:r>
              <a:rPr lang="en-US" dirty="0"/>
              <a:t>HOW CNN WORK?</a:t>
            </a:r>
            <a:endParaRPr lang="en-IN" dirty="0"/>
          </a:p>
        </p:txBody>
      </p:sp>
      <p:sp>
        <p:nvSpPr>
          <p:cNvPr id="4" name="TextBox 3">
            <a:extLst>
              <a:ext uri="{FF2B5EF4-FFF2-40B4-BE49-F238E27FC236}">
                <a16:creationId xmlns:a16="http://schemas.microsoft.com/office/drawing/2014/main" id="{B7A9BD55-3213-3B2A-8FCE-2E60E5728261}"/>
              </a:ext>
            </a:extLst>
          </p:cNvPr>
          <p:cNvSpPr txBox="1"/>
          <p:nvPr/>
        </p:nvSpPr>
        <p:spPr>
          <a:xfrm>
            <a:off x="1143000" y="1680882"/>
            <a:ext cx="10124556" cy="646331"/>
          </a:xfrm>
          <a:prstGeom prst="rect">
            <a:avLst/>
          </a:prstGeom>
          <a:noFill/>
        </p:spPr>
        <p:txBody>
          <a:bodyPr wrap="square">
            <a:spAutoFit/>
          </a:bodyPr>
          <a:lstStyle/>
          <a:p>
            <a:endParaRPr lang="en-US" b="0" i="0" dirty="0">
              <a:solidFill>
                <a:srgbClr val="666666"/>
              </a:solidFill>
              <a:effectLst/>
              <a:latin typeface="Arial" panose="020B0604020202020204" pitchFamily="34" charset="0"/>
            </a:endParaRPr>
          </a:p>
          <a:p>
            <a:endParaRPr lang="en-IN" dirty="0"/>
          </a:p>
        </p:txBody>
      </p:sp>
      <p:pic>
        <p:nvPicPr>
          <p:cNvPr id="6" name="Picture 5">
            <a:extLst>
              <a:ext uri="{FF2B5EF4-FFF2-40B4-BE49-F238E27FC236}">
                <a16:creationId xmlns:a16="http://schemas.microsoft.com/office/drawing/2014/main" id="{455633DB-E0B3-78B1-CCFC-6A3904111F42}"/>
              </a:ext>
            </a:extLst>
          </p:cNvPr>
          <p:cNvPicPr>
            <a:picLocks noChangeAspect="1"/>
          </p:cNvPicPr>
          <p:nvPr/>
        </p:nvPicPr>
        <p:blipFill>
          <a:blip r:embed="rId2"/>
          <a:stretch>
            <a:fillRect/>
          </a:stretch>
        </p:blipFill>
        <p:spPr>
          <a:xfrm>
            <a:off x="3400048" y="1775013"/>
            <a:ext cx="5743951" cy="4473388"/>
          </a:xfrm>
          <a:prstGeom prst="rect">
            <a:avLst/>
          </a:prstGeom>
        </p:spPr>
      </p:pic>
    </p:spTree>
    <p:extLst>
      <p:ext uri="{BB962C8B-B14F-4D97-AF65-F5344CB8AC3E}">
        <p14:creationId xmlns:p14="http://schemas.microsoft.com/office/powerpoint/2010/main" val="3766251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95834"/>
            <a:ext cx="10353761" cy="2231756"/>
          </a:xfrm>
        </p:spPr>
        <p:txBody>
          <a:bodyPr/>
          <a:lstStyle/>
          <a:p>
            <a:r>
              <a:rPr lang="en-US" dirty="0"/>
              <a:t>Methodology</a:t>
            </a:r>
          </a:p>
        </p:txBody>
      </p:sp>
      <p:sp>
        <p:nvSpPr>
          <p:cNvPr id="3" name="TextBox 2"/>
          <p:cNvSpPr txBox="1"/>
          <p:nvPr/>
        </p:nvSpPr>
        <p:spPr>
          <a:xfrm>
            <a:off x="1010466" y="1500493"/>
            <a:ext cx="10510973" cy="6463308"/>
          </a:xfrm>
          <a:prstGeom prst="rect">
            <a:avLst/>
          </a:prstGeom>
          <a:noFill/>
        </p:spPr>
        <p:txBody>
          <a:bodyPr wrap="square" rtlCol="0">
            <a:spAutoFit/>
          </a:bodyPr>
          <a:lstStyle/>
          <a:p>
            <a:pPr marL="285750" indent="-285750">
              <a:buFont typeface="Wingdings" panose="05000000000000000000" pitchFamily="2" charset="2"/>
              <a:buChar char="Ø"/>
            </a:pPr>
            <a:r>
              <a:rPr lang="en-US" dirty="0"/>
              <a:t>Libraries used- </a:t>
            </a:r>
            <a:r>
              <a:rPr lang="en-US" dirty="0" err="1"/>
              <a:t>numpPy</a:t>
            </a:r>
            <a:r>
              <a:rPr lang="en-US" dirty="0"/>
              <a:t> , pandas, </a:t>
            </a:r>
            <a:r>
              <a:rPr lang="en-US" dirty="0" err="1"/>
              <a:t>TensorFlow</a:t>
            </a:r>
            <a:r>
              <a:rPr lang="en-US" dirty="0"/>
              <a:t>, </a:t>
            </a:r>
            <a:r>
              <a:rPr lang="en-US" dirty="0" err="1"/>
              <a:t>Scikit</a:t>
            </a:r>
            <a:r>
              <a:rPr lang="en-US" dirty="0"/>
              <a:t>-learn, </a:t>
            </a:r>
            <a:r>
              <a:rPr lang="en-US" dirty="0" err="1"/>
              <a:t>matplotlib</a:t>
            </a:r>
            <a:endParaRPr lang="en-US" dirty="0"/>
          </a:p>
          <a:p>
            <a:pPr marL="285750" indent="-285750">
              <a:buFont typeface="Wingdings" panose="05000000000000000000" pitchFamily="2" charset="2"/>
              <a:buChar char="Ø"/>
            </a:pPr>
            <a:r>
              <a:rPr lang="en-US" dirty="0"/>
              <a:t>Flask framework is used to develop web applications using python for built-in development server and a fast debugging.</a:t>
            </a:r>
          </a:p>
          <a:p>
            <a:pPr marL="285750" indent="-285750">
              <a:buFont typeface="Wingdings" panose="05000000000000000000" pitchFamily="2" charset="2"/>
              <a:buChar char="Ø"/>
            </a:pPr>
            <a:r>
              <a:rPr lang="en-US" dirty="0"/>
              <a:t>Convolution is applied to the input data to filter the information and produce a feature map.</a:t>
            </a:r>
          </a:p>
          <a:p>
            <a:pPr marL="285750" indent="-285750">
              <a:buFont typeface="Wingdings" panose="05000000000000000000" pitchFamily="2" charset="2"/>
              <a:buChar char="Ø"/>
            </a:pPr>
            <a:r>
              <a:rPr lang="en-US" dirty="0"/>
              <a:t> The filter goes over the input image, doing matrix multiplication element after element. The result for each receptive field (the area where convolution takes place) is written down in the feature map.</a:t>
            </a:r>
          </a:p>
          <a:p>
            <a:pPr marL="285750" indent="-285750">
              <a:buFont typeface="Wingdings" panose="05000000000000000000" pitchFamily="2" charset="2"/>
              <a:buChar char="Ø"/>
            </a:pPr>
            <a:r>
              <a:rPr lang="en-US" dirty="0"/>
              <a:t>It is responsible for recognizing features in pixels.</a:t>
            </a:r>
          </a:p>
          <a:p>
            <a:pPr marL="285750" indent="-285750">
              <a:buFont typeface="Wingdings" panose="05000000000000000000" pitchFamily="2" charset="2"/>
              <a:buChar char="Ø"/>
            </a:pPr>
            <a:r>
              <a:rPr lang="en-US" dirty="0"/>
              <a:t>Next comes the pooling layer where it </a:t>
            </a:r>
            <a:r>
              <a:rPr lang="en-US" dirty="0" err="1"/>
              <a:t>summarises</a:t>
            </a:r>
            <a:r>
              <a:rPr lang="en-US" dirty="0"/>
              <a:t> the features present in a region of the feature map generated by a convolution layer.</a:t>
            </a:r>
          </a:p>
          <a:p>
            <a:pPr marL="285750" indent="-285750">
              <a:buFont typeface="Wingdings" panose="05000000000000000000" pitchFamily="2" charset="2"/>
              <a:buChar char="Ø"/>
            </a:pPr>
            <a:r>
              <a:rPr lang="en-US" dirty="0"/>
              <a:t>The pooling used here is Max pooling where pooling operation selects the maximum element from the region of the feature map covered by the filter. Thus, the output after max-pooling layer would be a feature map containing the most prominent features of the previous feature map.</a:t>
            </a:r>
          </a:p>
          <a:p>
            <a:pPr marL="285750" indent="-285750">
              <a:buFont typeface="Wingdings" panose="05000000000000000000" pitchFamily="2" charset="2"/>
              <a:buChar char="Ø"/>
            </a:pPr>
            <a:r>
              <a:rPr lang="en-US" dirty="0"/>
              <a:t>Followed by this is the  Flattening layer that is used to convert all the resultant 2-Dimensional arrays from pooled feature maps into a single long continuous linear vector which is fed as an input to  classify the image.</a:t>
            </a:r>
          </a:p>
          <a:p>
            <a:pPr marL="285750" indent="-285750">
              <a:buFont typeface="Wingdings" panose="05000000000000000000" pitchFamily="2" charset="2"/>
              <a:buChar char="Ø"/>
            </a:pPr>
            <a:r>
              <a:rPr lang="en-US" dirty="0"/>
              <a:t>Next full connection layer is applied where each neuron in the fully connected layer corresponds to a specific feature that might be present in an image. The value that the neuron passes on to the next layer represents the probability that the feature is contained in the image.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br>
              <a:rPr lang="en-US" dirty="0"/>
            </a:br>
            <a:endParaRPr lang="en-US" dirty="0"/>
          </a:p>
        </p:txBody>
      </p:sp>
    </p:spTree>
    <p:extLst>
      <p:ext uri="{BB962C8B-B14F-4D97-AF65-F5344CB8AC3E}">
        <p14:creationId xmlns:p14="http://schemas.microsoft.com/office/powerpoint/2010/main" val="3734122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br>
              <a:rPr lang="en-US" dirty="0"/>
            </a:b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290772953"/>
              </p:ext>
            </p:extLst>
          </p:nvPr>
        </p:nvGraphicFramePr>
        <p:xfrm>
          <a:off x="1667435" y="1761565"/>
          <a:ext cx="9435993" cy="4596855"/>
        </p:xfrm>
        <a:graphic>
          <a:graphicData uri="http://schemas.openxmlformats.org/drawingml/2006/table">
            <a:tbl>
              <a:tblPr firstRow="1" bandRow="1">
                <a:tableStyleId>{5C22544A-7EE6-4342-B048-85BDC9FD1C3A}</a:tableStyleId>
              </a:tblPr>
              <a:tblGrid>
                <a:gridCol w="3145331">
                  <a:extLst>
                    <a:ext uri="{9D8B030D-6E8A-4147-A177-3AD203B41FA5}">
                      <a16:colId xmlns:a16="http://schemas.microsoft.com/office/drawing/2014/main" val="476272566"/>
                    </a:ext>
                  </a:extLst>
                </a:gridCol>
                <a:gridCol w="3145331">
                  <a:extLst>
                    <a:ext uri="{9D8B030D-6E8A-4147-A177-3AD203B41FA5}">
                      <a16:colId xmlns:a16="http://schemas.microsoft.com/office/drawing/2014/main" val="660057662"/>
                    </a:ext>
                  </a:extLst>
                </a:gridCol>
                <a:gridCol w="3145331">
                  <a:extLst>
                    <a:ext uri="{9D8B030D-6E8A-4147-A177-3AD203B41FA5}">
                      <a16:colId xmlns:a16="http://schemas.microsoft.com/office/drawing/2014/main" val="3339433045"/>
                    </a:ext>
                  </a:extLst>
                </a:gridCol>
              </a:tblGrid>
              <a:tr h="390615">
                <a:tc>
                  <a:txBody>
                    <a:bodyPr/>
                    <a:lstStyle/>
                    <a:p>
                      <a:r>
                        <a:rPr lang="en-US" dirty="0"/>
                        <a:t>Title</a:t>
                      </a:r>
                    </a:p>
                  </a:txBody>
                  <a:tcPr/>
                </a:tc>
                <a:tc>
                  <a:txBody>
                    <a:bodyPr/>
                    <a:lstStyle/>
                    <a:p>
                      <a:r>
                        <a:rPr lang="en-US" dirty="0"/>
                        <a:t>Abstract</a:t>
                      </a:r>
                    </a:p>
                  </a:txBody>
                  <a:tcPr/>
                </a:tc>
                <a:tc>
                  <a:txBody>
                    <a:bodyPr/>
                    <a:lstStyle/>
                    <a:p>
                      <a:r>
                        <a:rPr lang="en-US" dirty="0"/>
                        <a:t>Author</a:t>
                      </a:r>
                    </a:p>
                  </a:txBody>
                  <a:tcPr/>
                </a:tc>
                <a:extLst>
                  <a:ext uri="{0D108BD9-81ED-4DB2-BD59-A6C34878D82A}">
                    <a16:rowId xmlns:a16="http://schemas.microsoft.com/office/drawing/2014/main" val="616717296"/>
                  </a:ext>
                </a:extLst>
              </a:tr>
              <a:tr h="4096220">
                <a:tc>
                  <a:txBody>
                    <a:bodyPr/>
                    <a:lstStyle/>
                    <a:p>
                      <a:r>
                        <a:rPr lang="en-US" sz="1800" b="1" kern="1200" dirty="0">
                          <a:solidFill>
                            <a:schemeClr val="dk1"/>
                          </a:solidFill>
                          <a:effectLst/>
                          <a:latin typeface="+mn-lt"/>
                          <a:ea typeface="+mn-ea"/>
                          <a:cs typeface="+mn-cs"/>
                        </a:rPr>
                        <a:t>Rethinking the inception architecture for computer vision</a:t>
                      </a:r>
                      <a:endParaRPr lang="en-US" sz="1800" dirty="0"/>
                    </a:p>
                  </a:txBody>
                  <a:tcPr/>
                </a:tc>
                <a:tc>
                  <a:txBody>
                    <a:bodyPr/>
                    <a:lstStyle/>
                    <a:p>
                      <a:r>
                        <a:rPr lang="en-US" sz="1800" kern="1200" dirty="0">
                          <a:solidFill>
                            <a:schemeClr val="dk1"/>
                          </a:solidFill>
                          <a:effectLst/>
                          <a:latin typeface="+mn-lt"/>
                          <a:ea typeface="+mn-ea"/>
                          <a:cs typeface="+mn-cs"/>
                        </a:rPr>
                        <a:t>Convolutional networks are at the core of most state-of-the-art computer vision solutions for a wide variety of tasks. Although increased model size and computational cost tend to translate to immediate quality gains for most tasks, computational efficiency and low parameter count are still enabling factors for various use cases such as mobile vision and big-data scenarios.</a:t>
                      </a:r>
                      <a:endParaRPr lang="en-US" sz="1800" dirty="0"/>
                    </a:p>
                  </a:txBody>
                  <a:tcPr/>
                </a:tc>
                <a:tc>
                  <a:txBody>
                    <a:bodyPr/>
                    <a:lstStyle/>
                    <a:p>
                      <a:r>
                        <a:rPr lang="en-US" sz="1800" kern="1200" dirty="0">
                          <a:solidFill>
                            <a:schemeClr val="dk1"/>
                          </a:solidFill>
                          <a:effectLst/>
                          <a:latin typeface="+mn-lt"/>
                          <a:ea typeface="+mn-ea"/>
                          <a:cs typeface="+mn-cs"/>
                        </a:rPr>
                        <a:t>Christian </a:t>
                      </a:r>
                      <a:r>
                        <a:rPr lang="en-US" sz="1800" kern="1200" dirty="0" err="1">
                          <a:solidFill>
                            <a:schemeClr val="dk1"/>
                          </a:solidFill>
                          <a:effectLst/>
                          <a:latin typeface="+mn-lt"/>
                          <a:ea typeface="+mn-ea"/>
                          <a:cs typeface="+mn-cs"/>
                        </a:rPr>
                        <a:t>Szegedy</a:t>
                      </a:r>
                      <a:r>
                        <a:rPr lang="en-US" sz="1800" kern="1200" dirty="0">
                          <a:solidFill>
                            <a:schemeClr val="dk1"/>
                          </a:solidFill>
                          <a:effectLst/>
                          <a:latin typeface="+mn-lt"/>
                          <a:ea typeface="+mn-ea"/>
                          <a:cs typeface="+mn-cs"/>
                        </a:rPr>
                        <a:t>, Vincent </a:t>
                      </a:r>
                      <a:r>
                        <a:rPr lang="en-US" sz="1800" kern="1200" dirty="0" err="1">
                          <a:solidFill>
                            <a:schemeClr val="dk1"/>
                          </a:solidFill>
                          <a:effectLst/>
                          <a:latin typeface="+mn-lt"/>
                          <a:ea typeface="+mn-ea"/>
                          <a:cs typeface="+mn-cs"/>
                        </a:rPr>
                        <a:t>Vanhoucke</a:t>
                      </a:r>
                      <a:r>
                        <a:rPr lang="en-US" sz="1800" kern="1200" dirty="0">
                          <a:solidFill>
                            <a:schemeClr val="dk1"/>
                          </a:solidFill>
                          <a:effectLst/>
                          <a:latin typeface="+mn-lt"/>
                          <a:ea typeface="+mn-ea"/>
                          <a:cs typeface="+mn-cs"/>
                        </a:rPr>
                        <a:t>, Sergey </a:t>
                      </a:r>
                      <a:r>
                        <a:rPr lang="en-US" sz="1800" kern="1200" dirty="0" err="1">
                          <a:solidFill>
                            <a:schemeClr val="dk1"/>
                          </a:solidFill>
                          <a:effectLst/>
                          <a:latin typeface="+mn-lt"/>
                          <a:ea typeface="+mn-ea"/>
                          <a:cs typeface="+mn-cs"/>
                        </a:rPr>
                        <a:t>Ioffe</a:t>
                      </a:r>
                      <a:r>
                        <a:rPr lang="en-US" sz="1800" kern="1200" dirty="0">
                          <a:solidFill>
                            <a:schemeClr val="dk1"/>
                          </a:solidFill>
                          <a:effectLst/>
                          <a:latin typeface="+mn-lt"/>
                          <a:ea typeface="+mn-ea"/>
                          <a:cs typeface="+mn-cs"/>
                        </a:rPr>
                        <a:t>, Jonathon </a:t>
                      </a:r>
                      <a:r>
                        <a:rPr lang="en-US" sz="1800" kern="1200" dirty="0" err="1">
                          <a:solidFill>
                            <a:schemeClr val="dk1"/>
                          </a:solidFill>
                          <a:effectLst/>
                          <a:latin typeface="+mn-lt"/>
                          <a:ea typeface="+mn-ea"/>
                          <a:cs typeface="+mn-cs"/>
                        </a:rPr>
                        <a:t>Shlens</a:t>
                      </a:r>
                      <a:r>
                        <a:rPr lang="en-US" sz="1800" kern="1200" dirty="0">
                          <a:solidFill>
                            <a:schemeClr val="dk1"/>
                          </a:solidFill>
                          <a:effectLst/>
                          <a:latin typeface="+mn-lt"/>
                          <a:ea typeface="+mn-ea"/>
                          <a:cs typeface="+mn-cs"/>
                        </a:rPr>
                        <a:t>, Zbigniew </a:t>
                      </a:r>
                      <a:r>
                        <a:rPr lang="en-US" sz="1800" kern="1200" dirty="0" err="1">
                          <a:solidFill>
                            <a:schemeClr val="dk1"/>
                          </a:solidFill>
                          <a:effectLst/>
                          <a:latin typeface="+mn-lt"/>
                          <a:ea typeface="+mn-ea"/>
                          <a:cs typeface="+mn-cs"/>
                        </a:rPr>
                        <a:t>Wojna</a:t>
                      </a:r>
                      <a:endParaRPr lang="en-US" sz="1800" b="0" dirty="0"/>
                    </a:p>
                  </a:txBody>
                  <a:tcPr/>
                </a:tc>
                <a:extLst>
                  <a:ext uri="{0D108BD9-81ED-4DB2-BD59-A6C34878D82A}">
                    <a16:rowId xmlns:a16="http://schemas.microsoft.com/office/drawing/2014/main" val="3140641097"/>
                  </a:ext>
                </a:extLst>
              </a:tr>
            </a:tbl>
          </a:graphicData>
        </a:graphic>
      </p:graphicFrame>
    </p:spTree>
    <p:extLst>
      <p:ext uri="{BB962C8B-B14F-4D97-AF65-F5344CB8AC3E}">
        <p14:creationId xmlns:p14="http://schemas.microsoft.com/office/powerpoint/2010/main" val="3781511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49243309"/>
              </p:ext>
            </p:extLst>
          </p:nvPr>
        </p:nvGraphicFramePr>
        <p:xfrm>
          <a:off x="1767841" y="719666"/>
          <a:ext cx="8392158" cy="4577080"/>
        </p:xfrm>
        <a:graphic>
          <a:graphicData uri="http://schemas.openxmlformats.org/drawingml/2006/table">
            <a:tbl>
              <a:tblPr firstRow="1" bandRow="1">
                <a:tableStyleId>{5C22544A-7EE6-4342-B048-85BDC9FD1C3A}</a:tableStyleId>
              </a:tblPr>
              <a:tblGrid>
                <a:gridCol w="2797386">
                  <a:extLst>
                    <a:ext uri="{9D8B030D-6E8A-4147-A177-3AD203B41FA5}">
                      <a16:colId xmlns:a16="http://schemas.microsoft.com/office/drawing/2014/main" val="1811414953"/>
                    </a:ext>
                  </a:extLst>
                </a:gridCol>
                <a:gridCol w="2797386">
                  <a:extLst>
                    <a:ext uri="{9D8B030D-6E8A-4147-A177-3AD203B41FA5}">
                      <a16:colId xmlns:a16="http://schemas.microsoft.com/office/drawing/2014/main" val="2033035709"/>
                    </a:ext>
                  </a:extLst>
                </a:gridCol>
                <a:gridCol w="2797386">
                  <a:extLst>
                    <a:ext uri="{9D8B030D-6E8A-4147-A177-3AD203B41FA5}">
                      <a16:colId xmlns:a16="http://schemas.microsoft.com/office/drawing/2014/main" val="899429029"/>
                    </a:ext>
                  </a:extLst>
                </a:gridCol>
              </a:tblGrid>
              <a:tr h="370840">
                <a:tc>
                  <a:txBody>
                    <a:bodyPr/>
                    <a:lstStyle/>
                    <a:p>
                      <a:r>
                        <a:rPr lang="en-US" dirty="0"/>
                        <a:t>Title</a:t>
                      </a:r>
                    </a:p>
                  </a:txBody>
                  <a:tcPr/>
                </a:tc>
                <a:tc>
                  <a:txBody>
                    <a:bodyPr/>
                    <a:lstStyle/>
                    <a:p>
                      <a:r>
                        <a:rPr lang="en-US" dirty="0"/>
                        <a:t>Abstract</a:t>
                      </a:r>
                    </a:p>
                  </a:txBody>
                  <a:tcPr/>
                </a:tc>
                <a:tc>
                  <a:txBody>
                    <a:bodyPr/>
                    <a:lstStyle/>
                    <a:p>
                      <a:r>
                        <a:rPr lang="en-US" dirty="0"/>
                        <a:t>Author</a:t>
                      </a:r>
                    </a:p>
                  </a:txBody>
                  <a:tcPr/>
                </a:tc>
                <a:extLst>
                  <a:ext uri="{0D108BD9-81ED-4DB2-BD59-A6C34878D82A}">
                    <a16:rowId xmlns:a16="http://schemas.microsoft.com/office/drawing/2014/main" val="1044400715"/>
                  </a:ext>
                </a:extLst>
              </a:tr>
              <a:tr h="370840">
                <a:tc>
                  <a:txBody>
                    <a:bodyPr/>
                    <a:lstStyle/>
                    <a:p>
                      <a:r>
                        <a:rPr lang="en-US" sz="1800" b="1" kern="1200" dirty="0">
                          <a:solidFill>
                            <a:schemeClr val="dk1"/>
                          </a:solidFill>
                          <a:effectLst/>
                          <a:latin typeface="+mn-lt"/>
                          <a:ea typeface="+mn-ea"/>
                          <a:cs typeface="+mn-cs"/>
                        </a:rPr>
                        <a:t>ImageNet classification with deep convolutional neural networks</a:t>
                      </a:r>
                      <a:endParaRPr lang="en-US" sz="1800" dirty="0"/>
                    </a:p>
                  </a:txBody>
                  <a:tcPr/>
                </a:tc>
                <a:tc>
                  <a:txBody>
                    <a:bodyPr/>
                    <a:lstStyle/>
                    <a:p>
                      <a:r>
                        <a:rPr lang="en-US" sz="1800" kern="1200" dirty="0">
                          <a:solidFill>
                            <a:schemeClr val="dk1"/>
                          </a:solidFill>
                          <a:effectLst/>
                          <a:latin typeface="+mn-lt"/>
                          <a:ea typeface="+mn-ea"/>
                          <a:cs typeface="+mn-cs"/>
                        </a:rPr>
                        <a:t>We trained a large, deep convolutional neural network to classify the 1.2 million high-resolution images in the ImageNet LSVRC-2010 contest into the 1000 different classes. On the test data, we achieved top-1 and top-5 error rates of 37.5% and 17.0% which is considerably better than the previous state-of-the-art. </a:t>
                      </a:r>
                      <a:endParaRPr lang="en-US" sz="1800" dirty="0"/>
                    </a:p>
                  </a:txBody>
                  <a:tcPr/>
                </a:tc>
                <a:tc>
                  <a:txBody>
                    <a:bodyPr/>
                    <a:lstStyle/>
                    <a:p>
                      <a:r>
                        <a:rPr lang="en-US" sz="1800" kern="1200" dirty="0">
                          <a:solidFill>
                            <a:schemeClr val="dk1"/>
                          </a:solidFill>
                          <a:effectLst/>
                          <a:latin typeface="+mn-lt"/>
                          <a:ea typeface="+mn-ea"/>
                          <a:cs typeface="+mn-cs"/>
                        </a:rPr>
                        <a:t>A. </a:t>
                      </a:r>
                      <a:r>
                        <a:rPr lang="en-US" sz="1800" kern="1200" dirty="0" err="1">
                          <a:solidFill>
                            <a:schemeClr val="dk1"/>
                          </a:solidFill>
                          <a:effectLst/>
                          <a:latin typeface="+mn-lt"/>
                          <a:ea typeface="+mn-ea"/>
                          <a:cs typeface="+mn-cs"/>
                        </a:rPr>
                        <a:t>Krizhevsky</a:t>
                      </a:r>
                      <a:r>
                        <a:rPr lang="en-US" sz="1800" kern="1200" dirty="0">
                          <a:solidFill>
                            <a:schemeClr val="dk1"/>
                          </a:solidFill>
                          <a:effectLst/>
                          <a:latin typeface="+mn-lt"/>
                          <a:ea typeface="+mn-ea"/>
                          <a:cs typeface="+mn-cs"/>
                        </a:rPr>
                        <a:t>, I. </a:t>
                      </a:r>
                      <a:r>
                        <a:rPr lang="en-US" sz="1800" kern="1200" dirty="0" err="1">
                          <a:solidFill>
                            <a:schemeClr val="dk1"/>
                          </a:solidFill>
                          <a:effectLst/>
                          <a:latin typeface="+mn-lt"/>
                          <a:ea typeface="+mn-ea"/>
                          <a:cs typeface="+mn-cs"/>
                        </a:rPr>
                        <a:t>Sutskever</a:t>
                      </a:r>
                      <a:r>
                        <a:rPr lang="en-US" sz="1800" kern="1200" dirty="0">
                          <a:solidFill>
                            <a:schemeClr val="dk1"/>
                          </a:solidFill>
                          <a:effectLst/>
                          <a:latin typeface="+mn-lt"/>
                          <a:ea typeface="+mn-ea"/>
                          <a:cs typeface="+mn-cs"/>
                        </a:rPr>
                        <a:t> and G. E. Hinton</a:t>
                      </a:r>
                      <a:endParaRPr lang="en-US" dirty="0"/>
                    </a:p>
                  </a:txBody>
                  <a:tcPr/>
                </a:tc>
                <a:extLst>
                  <a:ext uri="{0D108BD9-81ED-4DB2-BD59-A6C34878D82A}">
                    <a16:rowId xmlns:a16="http://schemas.microsoft.com/office/drawing/2014/main" val="1360360102"/>
                  </a:ext>
                </a:extLst>
              </a:tr>
            </a:tbl>
          </a:graphicData>
        </a:graphic>
      </p:graphicFrame>
    </p:spTree>
    <p:extLst>
      <p:ext uri="{BB962C8B-B14F-4D97-AF65-F5344CB8AC3E}">
        <p14:creationId xmlns:p14="http://schemas.microsoft.com/office/powerpoint/2010/main" val="1751986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26350613"/>
              </p:ext>
            </p:extLst>
          </p:nvPr>
        </p:nvGraphicFramePr>
        <p:xfrm>
          <a:off x="1550125" y="719666"/>
          <a:ext cx="8609874" cy="5400040"/>
        </p:xfrm>
        <a:graphic>
          <a:graphicData uri="http://schemas.openxmlformats.org/drawingml/2006/table">
            <a:tbl>
              <a:tblPr firstRow="1" bandRow="1">
                <a:tableStyleId>{5C22544A-7EE6-4342-B048-85BDC9FD1C3A}</a:tableStyleId>
              </a:tblPr>
              <a:tblGrid>
                <a:gridCol w="2869958">
                  <a:extLst>
                    <a:ext uri="{9D8B030D-6E8A-4147-A177-3AD203B41FA5}">
                      <a16:colId xmlns:a16="http://schemas.microsoft.com/office/drawing/2014/main" val="595692820"/>
                    </a:ext>
                  </a:extLst>
                </a:gridCol>
                <a:gridCol w="2869958">
                  <a:extLst>
                    <a:ext uri="{9D8B030D-6E8A-4147-A177-3AD203B41FA5}">
                      <a16:colId xmlns:a16="http://schemas.microsoft.com/office/drawing/2014/main" val="3123801281"/>
                    </a:ext>
                  </a:extLst>
                </a:gridCol>
                <a:gridCol w="2869958">
                  <a:extLst>
                    <a:ext uri="{9D8B030D-6E8A-4147-A177-3AD203B41FA5}">
                      <a16:colId xmlns:a16="http://schemas.microsoft.com/office/drawing/2014/main" val="66149359"/>
                    </a:ext>
                  </a:extLst>
                </a:gridCol>
              </a:tblGrid>
              <a:tr h="370840">
                <a:tc>
                  <a:txBody>
                    <a:bodyPr/>
                    <a:lstStyle/>
                    <a:p>
                      <a:r>
                        <a:rPr lang="en-US" dirty="0"/>
                        <a:t>Title</a:t>
                      </a:r>
                    </a:p>
                  </a:txBody>
                  <a:tcPr/>
                </a:tc>
                <a:tc>
                  <a:txBody>
                    <a:bodyPr/>
                    <a:lstStyle/>
                    <a:p>
                      <a:r>
                        <a:rPr lang="en-US" dirty="0"/>
                        <a:t>Abstract</a:t>
                      </a:r>
                    </a:p>
                  </a:txBody>
                  <a:tcPr/>
                </a:tc>
                <a:tc>
                  <a:txBody>
                    <a:bodyPr/>
                    <a:lstStyle/>
                    <a:p>
                      <a:r>
                        <a:rPr lang="en-US" dirty="0"/>
                        <a:t>Author</a:t>
                      </a:r>
                    </a:p>
                  </a:txBody>
                  <a:tcPr/>
                </a:tc>
                <a:extLst>
                  <a:ext uri="{0D108BD9-81ED-4DB2-BD59-A6C34878D82A}">
                    <a16:rowId xmlns:a16="http://schemas.microsoft.com/office/drawing/2014/main" val="4195355510"/>
                  </a:ext>
                </a:extLst>
              </a:tr>
              <a:tr h="370840">
                <a:tc>
                  <a:txBody>
                    <a:bodyPr/>
                    <a:lstStyle/>
                    <a:p>
                      <a:r>
                        <a:rPr lang="en-US" sz="1800" b="1" kern="1200" dirty="0">
                          <a:solidFill>
                            <a:schemeClr val="dk1"/>
                          </a:solidFill>
                          <a:effectLst/>
                          <a:latin typeface="+mn-lt"/>
                          <a:ea typeface="+mn-ea"/>
                          <a:cs typeface="+mn-cs"/>
                        </a:rPr>
                        <a:t>Integrating SOMs and a Bayesian classifier for segmenting diseased plants in uncontrolled environments</a:t>
                      </a:r>
                      <a:endParaRPr lang="en-US" dirty="0"/>
                    </a:p>
                  </a:txBody>
                  <a:tcPr/>
                </a:tc>
                <a:tc>
                  <a:txBody>
                    <a:bodyPr/>
                    <a:lstStyle/>
                    <a:p>
                      <a:r>
                        <a:rPr lang="en-US" sz="1800" kern="1200" dirty="0">
                          <a:solidFill>
                            <a:schemeClr val="dk1"/>
                          </a:solidFill>
                          <a:effectLst/>
                          <a:latin typeface="+mn-lt"/>
                          <a:ea typeface="+mn-ea"/>
                          <a:cs typeface="+mn-cs"/>
                        </a:rPr>
                        <a:t>This work presents a methodology that integrates a nonsupervised learning approach (self-organizing map (SOM)) and a supervised one (a Bayesian classifier) for segmenting diseased plants that grow in uncontrolled environments such as greenhouses, wherein the lack of control of illumination and presence of background bring about serious drawbacks. </a:t>
                      </a:r>
                      <a:endParaRPr lang="en-US" dirty="0"/>
                    </a:p>
                  </a:txBody>
                  <a:tcPr/>
                </a:tc>
                <a:tc>
                  <a:txBody>
                    <a:bodyPr/>
                    <a:lstStyle/>
                    <a:p>
                      <a:r>
                        <a:rPr lang="en-US" sz="1800" kern="1200" dirty="0">
                          <a:solidFill>
                            <a:schemeClr val="dk1"/>
                          </a:solidFill>
                          <a:effectLst/>
                          <a:latin typeface="+mn-lt"/>
                          <a:ea typeface="+mn-ea"/>
                          <a:cs typeface="+mn-cs"/>
                        </a:rPr>
                        <a:t>D. L. Hernández-</a:t>
                      </a:r>
                      <a:r>
                        <a:rPr lang="en-US" sz="1800" kern="1200" dirty="0" err="1">
                          <a:solidFill>
                            <a:schemeClr val="dk1"/>
                          </a:solidFill>
                          <a:effectLst/>
                          <a:latin typeface="+mn-lt"/>
                          <a:ea typeface="+mn-ea"/>
                          <a:cs typeface="+mn-cs"/>
                        </a:rPr>
                        <a:t>Rabadán</a:t>
                      </a:r>
                      <a:r>
                        <a:rPr lang="en-US" sz="1800" kern="1200" dirty="0">
                          <a:solidFill>
                            <a:schemeClr val="dk1"/>
                          </a:solidFill>
                          <a:effectLst/>
                          <a:latin typeface="+mn-lt"/>
                          <a:ea typeface="+mn-ea"/>
                          <a:cs typeface="+mn-cs"/>
                        </a:rPr>
                        <a:t>, F. Ramos-Quintana and J. Guerrero Juk</a:t>
                      </a:r>
                      <a:endParaRPr lang="en-US" dirty="0"/>
                    </a:p>
                  </a:txBody>
                  <a:tcPr/>
                </a:tc>
                <a:extLst>
                  <a:ext uri="{0D108BD9-81ED-4DB2-BD59-A6C34878D82A}">
                    <a16:rowId xmlns:a16="http://schemas.microsoft.com/office/drawing/2014/main" val="2330504195"/>
                  </a:ext>
                </a:extLst>
              </a:tr>
            </a:tbl>
          </a:graphicData>
        </a:graphic>
      </p:graphicFrame>
    </p:spTree>
    <p:extLst>
      <p:ext uri="{BB962C8B-B14F-4D97-AF65-F5344CB8AC3E}">
        <p14:creationId xmlns:p14="http://schemas.microsoft.com/office/powerpoint/2010/main" val="1103313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99330539"/>
              </p:ext>
            </p:extLst>
          </p:nvPr>
        </p:nvGraphicFramePr>
        <p:xfrm>
          <a:off x="1550125" y="719666"/>
          <a:ext cx="8609874" cy="5125720"/>
        </p:xfrm>
        <a:graphic>
          <a:graphicData uri="http://schemas.openxmlformats.org/drawingml/2006/table">
            <a:tbl>
              <a:tblPr firstRow="1" bandRow="1">
                <a:tableStyleId>{5C22544A-7EE6-4342-B048-85BDC9FD1C3A}</a:tableStyleId>
              </a:tblPr>
              <a:tblGrid>
                <a:gridCol w="2869958">
                  <a:extLst>
                    <a:ext uri="{9D8B030D-6E8A-4147-A177-3AD203B41FA5}">
                      <a16:colId xmlns:a16="http://schemas.microsoft.com/office/drawing/2014/main" val="115336751"/>
                    </a:ext>
                  </a:extLst>
                </a:gridCol>
                <a:gridCol w="2869958">
                  <a:extLst>
                    <a:ext uri="{9D8B030D-6E8A-4147-A177-3AD203B41FA5}">
                      <a16:colId xmlns:a16="http://schemas.microsoft.com/office/drawing/2014/main" val="2489916056"/>
                    </a:ext>
                  </a:extLst>
                </a:gridCol>
                <a:gridCol w="2869958">
                  <a:extLst>
                    <a:ext uri="{9D8B030D-6E8A-4147-A177-3AD203B41FA5}">
                      <a16:colId xmlns:a16="http://schemas.microsoft.com/office/drawing/2014/main" val="3496761361"/>
                    </a:ext>
                  </a:extLst>
                </a:gridCol>
              </a:tblGrid>
              <a:tr h="370840">
                <a:tc>
                  <a:txBody>
                    <a:bodyPr/>
                    <a:lstStyle/>
                    <a:p>
                      <a:r>
                        <a:rPr lang="en-US" dirty="0"/>
                        <a:t>Title</a:t>
                      </a:r>
                    </a:p>
                  </a:txBody>
                  <a:tcPr/>
                </a:tc>
                <a:tc>
                  <a:txBody>
                    <a:bodyPr/>
                    <a:lstStyle/>
                    <a:p>
                      <a:r>
                        <a:rPr lang="en-US" dirty="0"/>
                        <a:t>Abstract</a:t>
                      </a:r>
                    </a:p>
                  </a:txBody>
                  <a:tcPr/>
                </a:tc>
                <a:tc>
                  <a:txBody>
                    <a:bodyPr/>
                    <a:lstStyle/>
                    <a:p>
                      <a:r>
                        <a:rPr lang="en-US" dirty="0"/>
                        <a:t>Author</a:t>
                      </a:r>
                    </a:p>
                  </a:txBody>
                  <a:tcPr/>
                </a:tc>
                <a:extLst>
                  <a:ext uri="{0D108BD9-81ED-4DB2-BD59-A6C34878D82A}">
                    <a16:rowId xmlns:a16="http://schemas.microsoft.com/office/drawing/2014/main" val="22685658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Visible-near infrared spectroscopy for detection of </a:t>
                      </a:r>
                      <a:r>
                        <a:rPr lang="en-US" sz="1800" kern="1200" dirty="0" err="1">
                          <a:solidFill>
                            <a:schemeClr val="dk1"/>
                          </a:solidFill>
                          <a:effectLst/>
                          <a:latin typeface="+mn-lt"/>
                          <a:ea typeface="+mn-ea"/>
                          <a:cs typeface="+mn-cs"/>
                        </a:rPr>
                        <a:t>Huanglongbing</a:t>
                      </a:r>
                      <a:r>
                        <a:rPr lang="en-US" sz="1800" b="1" kern="1200" dirty="0">
                          <a:solidFill>
                            <a:schemeClr val="dk1"/>
                          </a:solidFill>
                          <a:effectLst/>
                          <a:latin typeface="+mn-lt"/>
                          <a:ea typeface="+mn-ea"/>
                          <a:cs typeface="+mn-cs"/>
                        </a:rPr>
                        <a:t> in citrus orchards</a:t>
                      </a:r>
                      <a:endParaRPr lang="en-IN" sz="1800" b="1" kern="1200" dirty="0">
                        <a:solidFill>
                          <a:schemeClr val="dk1"/>
                        </a:solidFill>
                        <a:effectLst/>
                        <a:latin typeface="+mn-lt"/>
                        <a:ea typeface="+mn-ea"/>
                        <a:cs typeface="+mn-cs"/>
                      </a:endParaRPr>
                    </a:p>
                    <a:p>
                      <a:endParaRPr lang="en-US" dirty="0"/>
                    </a:p>
                  </a:txBody>
                  <a:tcPr/>
                </a:tc>
                <a:tc>
                  <a:txBody>
                    <a:bodyPr/>
                    <a:lstStyle/>
                    <a:p>
                      <a:r>
                        <a:rPr lang="en-US" sz="1800" kern="1200" dirty="0">
                          <a:solidFill>
                            <a:schemeClr val="dk1"/>
                          </a:solidFill>
                          <a:effectLst/>
                          <a:latin typeface="+mn-lt"/>
                          <a:ea typeface="+mn-ea"/>
                          <a:cs typeface="+mn-cs"/>
                        </a:rPr>
                        <a:t>Spectral reflectance data from the wavelength range of 350–2500nm with 989 spectral features were collected from 100 healthy and 93 HLB-infected citrus trees using a visible-near infrared spectroradiometer. During data preprocessing, the spectral data were normalized and averaged every 25nm to reduce the spectral features from 989 to 86. </a:t>
                      </a:r>
                      <a:endParaRPr lang="en-US" dirty="0"/>
                    </a:p>
                  </a:txBody>
                  <a:tcPr/>
                </a:tc>
                <a:tc>
                  <a:txBody>
                    <a:bodyPr/>
                    <a:lstStyle/>
                    <a:p>
                      <a:r>
                        <a:rPr lang="en-US" sz="1800" kern="1200" dirty="0">
                          <a:solidFill>
                            <a:schemeClr val="dk1"/>
                          </a:solidFill>
                          <a:effectLst/>
                          <a:latin typeface="+mn-lt"/>
                          <a:ea typeface="+mn-ea"/>
                          <a:cs typeface="+mn-cs"/>
                        </a:rPr>
                        <a:t>S. Sankaran, A. Mishra, J. M. Maja and R. </a:t>
                      </a:r>
                      <a:r>
                        <a:rPr lang="en-US" sz="1800" kern="1200" dirty="0" err="1">
                          <a:solidFill>
                            <a:schemeClr val="dk1"/>
                          </a:solidFill>
                          <a:effectLst/>
                          <a:latin typeface="+mn-lt"/>
                          <a:ea typeface="+mn-ea"/>
                          <a:cs typeface="+mn-cs"/>
                        </a:rPr>
                        <a:t>Ehsani</a:t>
                      </a:r>
                      <a:endParaRPr lang="en-US" dirty="0"/>
                    </a:p>
                  </a:txBody>
                  <a:tcPr/>
                </a:tc>
                <a:extLst>
                  <a:ext uri="{0D108BD9-81ED-4DB2-BD59-A6C34878D82A}">
                    <a16:rowId xmlns:a16="http://schemas.microsoft.com/office/drawing/2014/main" val="995510598"/>
                  </a:ext>
                </a:extLst>
              </a:tr>
            </a:tbl>
          </a:graphicData>
        </a:graphic>
      </p:graphicFrame>
    </p:spTree>
    <p:extLst>
      <p:ext uri="{BB962C8B-B14F-4D97-AF65-F5344CB8AC3E}">
        <p14:creationId xmlns:p14="http://schemas.microsoft.com/office/powerpoint/2010/main" val="4190715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a:t>
            </a:r>
          </a:p>
        </p:txBody>
      </p:sp>
      <p:pic>
        <p:nvPicPr>
          <p:cNvPr id="4" name="Picture 3"/>
          <p:cNvPicPr>
            <a:picLocks noChangeAspect="1"/>
          </p:cNvPicPr>
          <p:nvPr/>
        </p:nvPicPr>
        <p:blipFill rotWithShape="1">
          <a:blip r:embed="rId2"/>
          <a:srcRect l="7316"/>
          <a:stretch/>
        </p:blipFill>
        <p:spPr>
          <a:xfrm>
            <a:off x="1156447" y="1622611"/>
            <a:ext cx="9239427" cy="4876801"/>
          </a:xfrm>
          <a:prstGeom prst="rect">
            <a:avLst/>
          </a:prstGeom>
        </p:spPr>
      </p:pic>
    </p:spTree>
    <p:extLst>
      <p:ext uri="{BB962C8B-B14F-4D97-AF65-F5344CB8AC3E}">
        <p14:creationId xmlns:p14="http://schemas.microsoft.com/office/powerpoint/2010/main" val="824665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0965" y="583474"/>
            <a:ext cx="10641106" cy="6130835"/>
          </a:xfrm>
          <a:prstGeom prst="rect">
            <a:avLst/>
          </a:prstGeom>
        </p:spPr>
      </p:pic>
    </p:spTree>
    <p:extLst>
      <p:ext uri="{BB962C8B-B14F-4D97-AF65-F5344CB8AC3E}">
        <p14:creationId xmlns:p14="http://schemas.microsoft.com/office/powerpoint/2010/main" val="204493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29553" y="740228"/>
            <a:ext cx="10219765" cy="5773783"/>
          </a:xfrm>
          <a:prstGeom prst="rect">
            <a:avLst/>
          </a:prstGeom>
        </p:spPr>
      </p:pic>
    </p:spTree>
    <p:extLst>
      <p:ext uri="{BB962C8B-B14F-4D97-AF65-F5344CB8AC3E}">
        <p14:creationId xmlns:p14="http://schemas.microsoft.com/office/powerpoint/2010/main" val="3647203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cases</a:t>
            </a:r>
          </a:p>
        </p:txBody>
      </p:sp>
      <p:graphicFrame>
        <p:nvGraphicFramePr>
          <p:cNvPr id="3" name="Table 2"/>
          <p:cNvGraphicFramePr>
            <a:graphicFrameLocks noGrp="1"/>
          </p:cNvGraphicFramePr>
          <p:nvPr>
            <p:extLst>
              <p:ext uri="{D42A27DB-BD31-4B8C-83A1-F6EECF244321}">
                <p14:modId xmlns:p14="http://schemas.microsoft.com/office/powerpoint/2010/main" val="3261371499"/>
              </p:ext>
            </p:extLst>
          </p:nvPr>
        </p:nvGraphicFramePr>
        <p:xfrm>
          <a:off x="1962332" y="2173997"/>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392619673"/>
                    </a:ext>
                  </a:extLst>
                </a:gridCol>
                <a:gridCol w="2709333">
                  <a:extLst>
                    <a:ext uri="{9D8B030D-6E8A-4147-A177-3AD203B41FA5}">
                      <a16:colId xmlns:a16="http://schemas.microsoft.com/office/drawing/2014/main" val="822318037"/>
                    </a:ext>
                  </a:extLst>
                </a:gridCol>
                <a:gridCol w="2709333">
                  <a:extLst>
                    <a:ext uri="{9D8B030D-6E8A-4147-A177-3AD203B41FA5}">
                      <a16:colId xmlns:a16="http://schemas.microsoft.com/office/drawing/2014/main" val="1826362174"/>
                    </a:ext>
                  </a:extLst>
                </a:gridCol>
              </a:tblGrid>
              <a:tr h="370840">
                <a:tc>
                  <a:txBody>
                    <a:bodyPr/>
                    <a:lstStyle/>
                    <a:p>
                      <a:r>
                        <a:rPr lang="en-US" dirty="0"/>
                        <a:t>Test case Number</a:t>
                      </a:r>
                    </a:p>
                  </a:txBody>
                  <a:tcPr/>
                </a:tc>
                <a:tc>
                  <a:txBody>
                    <a:bodyPr/>
                    <a:lstStyle/>
                    <a:p>
                      <a:r>
                        <a:rPr lang="en-US" dirty="0"/>
                        <a:t>Test case</a:t>
                      </a:r>
                      <a:r>
                        <a:rPr lang="en-US" baseline="0" dirty="0"/>
                        <a:t> name</a:t>
                      </a:r>
                      <a:endParaRPr lang="en-US" dirty="0"/>
                    </a:p>
                  </a:txBody>
                  <a:tcPr/>
                </a:tc>
                <a:tc>
                  <a:txBody>
                    <a:bodyPr/>
                    <a:lstStyle/>
                    <a:p>
                      <a:r>
                        <a:rPr lang="en-US" dirty="0"/>
                        <a:t>Success/fail</a:t>
                      </a:r>
                    </a:p>
                  </a:txBody>
                  <a:tcPr/>
                </a:tc>
                <a:extLst>
                  <a:ext uri="{0D108BD9-81ED-4DB2-BD59-A6C34878D82A}">
                    <a16:rowId xmlns:a16="http://schemas.microsoft.com/office/drawing/2014/main" val="3857318817"/>
                  </a:ext>
                </a:extLst>
              </a:tr>
              <a:tr h="370840">
                <a:tc>
                  <a:txBody>
                    <a:bodyPr/>
                    <a:lstStyle/>
                    <a:p>
                      <a:r>
                        <a:rPr lang="en-US" dirty="0"/>
                        <a:t>1.</a:t>
                      </a:r>
                    </a:p>
                  </a:txBody>
                  <a:tcPr/>
                </a:tc>
                <a:tc>
                  <a:txBody>
                    <a:bodyPr/>
                    <a:lstStyle/>
                    <a:p>
                      <a:r>
                        <a:rPr lang="en-US" dirty="0"/>
                        <a:t>Image Upload</a:t>
                      </a:r>
                    </a:p>
                  </a:txBody>
                  <a:tcPr/>
                </a:tc>
                <a:tc>
                  <a:txBody>
                    <a:bodyPr/>
                    <a:lstStyle/>
                    <a:p>
                      <a:r>
                        <a:rPr lang="en-US" dirty="0"/>
                        <a:t>Successful</a:t>
                      </a:r>
                    </a:p>
                  </a:txBody>
                  <a:tcPr/>
                </a:tc>
                <a:extLst>
                  <a:ext uri="{0D108BD9-81ED-4DB2-BD59-A6C34878D82A}">
                    <a16:rowId xmlns:a16="http://schemas.microsoft.com/office/drawing/2014/main" val="2891973748"/>
                  </a:ext>
                </a:extLst>
              </a:tr>
              <a:tr h="370840">
                <a:tc>
                  <a:txBody>
                    <a:bodyPr/>
                    <a:lstStyle/>
                    <a:p>
                      <a:r>
                        <a:rPr lang="en-US" dirty="0"/>
                        <a:t>2.</a:t>
                      </a:r>
                    </a:p>
                  </a:txBody>
                  <a:tcPr/>
                </a:tc>
                <a:tc>
                  <a:txBody>
                    <a:bodyPr/>
                    <a:lstStyle/>
                    <a:p>
                      <a:r>
                        <a:rPr lang="en-US" dirty="0"/>
                        <a:t>Disease</a:t>
                      </a:r>
                      <a:r>
                        <a:rPr lang="en-US" baseline="0" dirty="0"/>
                        <a:t> Identification</a:t>
                      </a:r>
                      <a:endParaRPr lang="en-US" dirty="0"/>
                    </a:p>
                  </a:txBody>
                  <a:tcPr/>
                </a:tc>
                <a:tc>
                  <a:txBody>
                    <a:bodyPr/>
                    <a:lstStyle/>
                    <a:p>
                      <a:r>
                        <a:rPr lang="en-US" dirty="0"/>
                        <a:t>Successful</a:t>
                      </a:r>
                    </a:p>
                  </a:txBody>
                  <a:tcPr/>
                </a:tc>
                <a:extLst>
                  <a:ext uri="{0D108BD9-81ED-4DB2-BD59-A6C34878D82A}">
                    <a16:rowId xmlns:a16="http://schemas.microsoft.com/office/drawing/2014/main" val="366200092"/>
                  </a:ext>
                </a:extLst>
              </a:tr>
              <a:tr h="370840">
                <a:tc>
                  <a:txBody>
                    <a:bodyPr/>
                    <a:lstStyle/>
                    <a:p>
                      <a:r>
                        <a:rPr lang="en-US" dirty="0"/>
                        <a:t>3.</a:t>
                      </a:r>
                    </a:p>
                  </a:txBody>
                  <a:tcPr/>
                </a:tc>
                <a:tc>
                  <a:txBody>
                    <a:bodyPr/>
                    <a:lstStyle/>
                    <a:p>
                      <a:r>
                        <a:rPr lang="en-US" dirty="0"/>
                        <a:t>Disease Cure display</a:t>
                      </a:r>
                    </a:p>
                  </a:txBody>
                  <a:tcPr/>
                </a:tc>
                <a:tc>
                  <a:txBody>
                    <a:bodyPr/>
                    <a:lstStyle/>
                    <a:p>
                      <a:r>
                        <a:rPr lang="en-US" dirty="0"/>
                        <a:t>Successful</a:t>
                      </a:r>
                    </a:p>
                  </a:txBody>
                  <a:tcPr/>
                </a:tc>
                <a:extLst>
                  <a:ext uri="{0D108BD9-81ED-4DB2-BD59-A6C34878D82A}">
                    <a16:rowId xmlns:a16="http://schemas.microsoft.com/office/drawing/2014/main" val="2382364132"/>
                  </a:ext>
                </a:extLst>
              </a:tr>
            </a:tbl>
          </a:graphicData>
        </a:graphic>
      </p:graphicFrame>
    </p:spTree>
    <p:extLst>
      <p:ext uri="{BB962C8B-B14F-4D97-AF65-F5344CB8AC3E}">
        <p14:creationId xmlns:p14="http://schemas.microsoft.com/office/powerpoint/2010/main" val="2350919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370" y="247650"/>
            <a:ext cx="10353761" cy="1326321"/>
          </a:xfrm>
        </p:spPr>
        <p:txBody>
          <a:bodyPr/>
          <a:lstStyle/>
          <a:p>
            <a:r>
              <a:rPr lang="en-US" dirty="0"/>
              <a:t>Timeline</a:t>
            </a:r>
          </a:p>
        </p:txBody>
      </p:sp>
      <p:graphicFrame>
        <p:nvGraphicFramePr>
          <p:cNvPr id="3" name="Chart 2"/>
          <p:cNvGraphicFramePr/>
          <p:nvPr>
            <p:extLst>
              <p:ext uri="{D42A27DB-BD31-4B8C-83A1-F6EECF244321}">
                <p14:modId xmlns:p14="http://schemas.microsoft.com/office/powerpoint/2010/main" val="2537182460"/>
              </p:ext>
            </p:extLst>
          </p:nvPr>
        </p:nvGraphicFramePr>
        <p:xfrm>
          <a:off x="2289175" y="1272760"/>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3806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647950"/>
            <a:ext cx="10353761" cy="1326321"/>
          </a:xfrm>
        </p:spPr>
        <p:txBody>
          <a:bodyPr/>
          <a:lstStyle/>
          <a:p>
            <a:r>
              <a:rPr lang="en-US" dirty="0"/>
              <a:t>Thank you</a:t>
            </a:r>
          </a:p>
        </p:txBody>
      </p:sp>
    </p:spTree>
    <p:extLst>
      <p:ext uri="{BB962C8B-B14F-4D97-AF65-F5344CB8AC3E}">
        <p14:creationId xmlns:p14="http://schemas.microsoft.com/office/powerpoint/2010/main" val="31643618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312</TotalTime>
  <Words>986</Words>
  <Application>Microsoft Office PowerPoint</Application>
  <PresentationFormat>Widescreen</PresentationFormat>
  <Paragraphs>95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vt:lpstr>
      <vt:lpstr>Bookman Old Style</vt:lpstr>
      <vt:lpstr>Rockwell</vt:lpstr>
      <vt:lpstr>Wingdings</vt:lpstr>
      <vt:lpstr>Damask</vt:lpstr>
      <vt:lpstr>Leaf disease identification for farmers using Deep Learning</vt:lpstr>
      <vt:lpstr>Contents Discussed</vt:lpstr>
      <vt:lpstr>Tomato Leaf Diseases </vt:lpstr>
      <vt:lpstr>CNN technique</vt:lpstr>
      <vt:lpstr>HOW CNN WORK?</vt:lpstr>
      <vt:lpstr>Methodology</vt:lpstr>
      <vt:lpstr>Literature survey </vt:lpstr>
      <vt:lpstr>PowerPoint Presentation</vt:lpstr>
      <vt:lpstr>PowerPoint Presentation</vt:lpstr>
      <vt:lpstr>PowerPoint Presentation</vt:lpstr>
      <vt:lpstr>Presentation</vt:lpstr>
      <vt:lpstr>PowerPoint Presentation</vt:lpstr>
      <vt:lpstr>PowerPoint Presentation</vt:lpstr>
      <vt:lpstr>test cases</vt:lpstr>
      <vt:lpstr>Timeline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Leaf disease prediction for farmers using Deep Learning</dc:title>
  <dc:creator>Lenovo</dc:creator>
  <cp:lastModifiedBy>ALLU MEGHANA CHOWDARY 19BCD7105</cp:lastModifiedBy>
  <cp:revision>28</cp:revision>
  <dcterms:created xsi:type="dcterms:W3CDTF">2022-10-22T09:02:52Z</dcterms:created>
  <dcterms:modified xsi:type="dcterms:W3CDTF">2022-11-21T04:07:20Z</dcterms:modified>
</cp:coreProperties>
</file>